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notesSlides/notesSlide3.xml" ContentType="application/vnd.openxmlformats-officedocument.presentationml.notesSlide+xml"/>
  <Override PartName="/ppt/charts/chart2.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notesSlides/notesSlide6.xml" ContentType="application/vnd.openxmlformats-officedocument.presentationml.notesSlide+xml"/>
  <Override PartName="/ppt/charts/chart5.xml" ContentType="application/vnd.openxmlformats-officedocument.drawingml.chart+xml"/>
  <Override PartName="/ppt/notesSlides/notesSlide7.xml" ContentType="application/vnd.openxmlformats-officedocument.presentationml.notesSlide+xml"/>
  <Override PartName="/ppt/charts/chart6.xml" ContentType="application/vnd.openxmlformats-officedocument.drawingml.chart+xml"/>
  <Override PartName="/ppt/drawings/drawing1.xml" ContentType="application/vnd.openxmlformats-officedocument.drawingml.chartshapes+xml"/>
  <Override PartName="/ppt/notesSlides/notesSlide8.xml" ContentType="application/vnd.openxmlformats-officedocument.presentationml.notesSlide+xml"/>
  <Override PartName="/ppt/charts/chart7.xml" ContentType="application/vnd.openxmlformats-officedocument.drawingml.chart+xml"/>
  <Override PartName="/ppt/charts/chart8.xml" ContentType="application/vnd.openxmlformats-officedocument.drawingml.chart+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81961" autoAdjust="0"/>
  </p:normalViewPr>
  <p:slideViewPr>
    <p:cSldViewPr snapToGrid="0" snapToObjects="1">
      <p:cViewPr varScale="1">
        <p:scale>
          <a:sx n="146" d="100"/>
          <a:sy n="146" d="100"/>
        </p:scale>
        <p:origin x="59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4A4A4A"/>
                </a:solidFill>
                <a:latin typeface="Arial"/>
              </a:defRPr>
            </a:pPr>
            <a:r>
              <a:rPr lang="en-US" sz="1100" b="0" i="0" u="none" strike="noStrike" dirty="0">
                <a:solidFill>
                  <a:srgbClr val="4A4A4A"/>
                </a:solidFill>
                <a:latin typeface="Arial"/>
              </a:rPr>
              <a:t>Distribution of Adherence (minutes) — most buses cluster between -6 and +1</a:t>
            </a:r>
          </a:p>
        </c:rich>
      </c:tx>
      <c:overlay val="0"/>
    </c:title>
    <c:autoTitleDeleted val="0"/>
    <c:plotArea>
      <c:layout>
        <c:manualLayout>
          <c:layoutTarget val="inner"/>
          <c:xMode val="edge"/>
          <c:yMode val="edge"/>
          <c:x val="8.4941650438856431E-2"/>
          <c:y val="0.17283294220383497"/>
          <c:w val="0.89863063152052225"/>
          <c:h val="0.66646990834679176"/>
        </c:manualLayout>
      </c:layout>
      <c:barChart>
        <c:barDir val="col"/>
        <c:grouping val="clustered"/>
        <c:varyColors val="0"/>
        <c:ser>
          <c:idx val="0"/>
          <c:order val="0"/>
          <c:tx>
            <c:strRef>
              <c:f>Sheet1!$B$1</c:f>
              <c:strCache>
                <c:ptCount val="1"/>
                <c:pt idx="0">
                  <c:v>Count</c:v>
                </c:pt>
              </c:strCache>
            </c:strRef>
          </c:tx>
          <c:spPr>
            <a:solidFill>
              <a:srgbClr val="6B1D2B"/>
            </a:solidFill>
            <a:effectLst/>
          </c:spPr>
          <c:invertIfNegative val="0"/>
          <c:dPt>
            <c:idx val="0"/>
            <c:invertIfNegative val="0"/>
            <c:bubble3D val="0"/>
            <c:extLst>
              <c:ext xmlns:c16="http://schemas.microsoft.com/office/drawing/2014/chart" uri="{C3380CC4-5D6E-409C-BE32-E72D297353CC}">
                <c16:uniqueId val="{00000001-333B-4FAA-A209-9483CF3A2C3C}"/>
              </c:ext>
            </c:extLst>
          </c:dPt>
          <c:dPt>
            <c:idx val="1"/>
            <c:invertIfNegative val="0"/>
            <c:bubble3D val="0"/>
            <c:extLst>
              <c:ext xmlns:c16="http://schemas.microsoft.com/office/drawing/2014/chart" uri="{C3380CC4-5D6E-409C-BE32-E72D297353CC}">
                <c16:uniqueId val="{00000003-333B-4FAA-A209-9483CF3A2C3C}"/>
              </c:ext>
            </c:extLst>
          </c:dPt>
          <c:dPt>
            <c:idx val="2"/>
            <c:invertIfNegative val="0"/>
            <c:bubble3D val="0"/>
            <c:extLst>
              <c:ext xmlns:c16="http://schemas.microsoft.com/office/drawing/2014/chart" uri="{C3380CC4-5D6E-409C-BE32-E72D297353CC}">
                <c16:uniqueId val="{00000005-333B-4FAA-A209-9483CF3A2C3C}"/>
              </c:ext>
            </c:extLst>
          </c:dPt>
          <c:dPt>
            <c:idx val="3"/>
            <c:invertIfNegative val="0"/>
            <c:bubble3D val="0"/>
            <c:extLst>
              <c:ext xmlns:c16="http://schemas.microsoft.com/office/drawing/2014/chart" uri="{C3380CC4-5D6E-409C-BE32-E72D297353CC}">
                <c16:uniqueId val="{00000007-333B-4FAA-A209-9483CF3A2C3C}"/>
              </c:ext>
            </c:extLst>
          </c:dPt>
          <c:dPt>
            <c:idx val="4"/>
            <c:invertIfNegative val="0"/>
            <c:bubble3D val="0"/>
            <c:spPr>
              <a:solidFill>
                <a:srgbClr val="8C2C3E"/>
              </a:solidFill>
              <a:effectLst/>
            </c:spPr>
            <c:extLst>
              <c:ext xmlns:c16="http://schemas.microsoft.com/office/drawing/2014/chart" uri="{C3380CC4-5D6E-409C-BE32-E72D297353CC}">
                <c16:uniqueId val="{00000009-333B-4FAA-A209-9483CF3A2C3C}"/>
              </c:ext>
            </c:extLst>
          </c:dPt>
          <c:dPt>
            <c:idx val="5"/>
            <c:invertIfNegative val="0"/>
            <c:bubble3D val="0"/>
            <c:spPr>
              <a:solidFill>
                <a:srgbClr val="0D7377"/>
              </a:solidFill>
              <a:effectLst/>
            </c:spPr>
            <c:extLst>
              <c:ext xmlns:c16="http://schemas.microsoft.com/office/drawing/2014/chart" uri="{C3380CC4-5D6E-409C-BE32-E72D297353CC}">
                <c16:uniqueId val="{0000000B-333B-4FAA-A209-9483CF3A2C3C}"/>
              </c:ext>
            </c:extLst>
          </c:dPt>
          <c:dPt>
            <c:idx val="6"/>
            <c:invertIfNegative val="0"/>
            <c:bubble3D val="0"/>
            <c:spPr>
              <a:solidFill>
                <a:srgbClr val="C45C26"/>
              </a:solidFill>
              <a:effectLst/>
            </c:spPr>
            <c:extLst>
              <c:ext xmlns:c16="http://schemas.microsoft.com/office/drawing/2014/chart" uri="{C3380CC4-5D6E-409C-BE32-E72D297353CC}">
                <c16:uniqueId val="{0000000D-333B-4FAA-A209-9483CF3A2C3C}"/>
              </c:ext>
            </c:extLst>
          </c:dPt>
          <c:dPt>
            <c:idx val="7"/>
            <c:invertIfNegative val="0"/>
            <c:bubble3D val="0"/>
            <c:spPr>
              <a:solidFill>
                <a:srgbClr val="E07840"/>
              </a:solidFill>
              <a:effectLst/>
            </c:spPr>
            <c:extLst>
              <c:ext xmlns:c16="http://schemas.microsoft.com/office/drawing/2014/chart" uri="{C3380CC4-5D6E-409C-BE32-E72D297353CC}">
                <c16:uniqueId val="{0000000F-333B-4FAA-A209-9483CF3A2C3C}"/>
              </c:ext>
            </c:extLst>
          </c:dPt>
          <c:dPt>
            <c:idx val="8"/>
            <c:invertIfNegative val="0"/>
            <c:bubble3D val="0"/>
            <c:extLst>
              <c:ext xmlns:c16="http://schemas.microsoft.com/office/drawing/2014/chart" uri="{C3380CC4-5D6E-409C-BE32-E72D297353CC}">
                <c16:uniqueId val="{00000011-333B-4FAA-A209-9483CF3A2C3C}"/>
              </c:ext>
            </c:extLst>
          </c:dPt>
          <c:cat>
            <c:strRef>
              <c:f>Sheet1!$A$2:$A$10</c:f>
              <c:strCache>
                <c:ptCount val="9"/>
                <c:pt idx="0">
                  <c:v>&lt; -20</c:v>
                </c:pt>
                <c:pt idx="1">
                  <c:v>-20 to -15</c:v>
                </c:pt>
                <c:pt idx="2">
                  <c:v>-15 to -10</c:v>
                </c:pt>
                <c:pt idx="3">
                  <c:v>-10 to -6</c:v>
                </c:pt>
                <c:pt idx="4">
                  <c:v>-6 to -3</c:v>
                </c:pt>
                <c:pt idx="5">
                  <c:v>-3 to 0</c:v>
                </c:pt>
                <c:pt idx="6">
                  <c:v>0 to 1</c:v>
                </c:pt>
                <c:pt idx="7">
                  <c:v>1 to 5</c:v>
                </c:pt>
                <c:pt idx="8">
                  <c:v>&gt; 5</c:v>
                </c:pt>
              </c:strCache>
            </c:strRef>
          </c:cat>
          <c:val>
            <c:numRef>
              <c:f>Sheet1!$B$2:$B$10</c:f>
              <c:numCache>
                <c:formatCode>General</c:formatCode>
                <c:ptCount val="9"/>
                <c:pt idx="0">
                  <c:v>3200</c:v>
                </c:pt>
                <c:pt idx="1">
                  <c:v>5800</c:v>
                </c:pt>
                <c:pt idx="2">
                  <c:v>9400</c:v>
                </c:pt>
                <c:pt idx="3">
                  <c:v>14200</c:v>
                </c:pt>
                <c:pt idx="4">
                  <c:v>28500</c:v>
                </c:pt>
                <c:pt idx="5">
                  <c:v>148000</c:v>
                </c:pt>
                <c:pt idx="6">
                  <c:v>72000</c:v>
                </c:pt>
                <c:pt idx="7">
                  <c:v>14600</c:v>
                </c:pt>
                <c:pt idx="8">
                  <c:v>3200</c:v>
                </c:pt>
              </c:numCache>
            </c:numRef>
          </c:val>
          <c:extLst>
            <c:ext xmlns:c16="http://schemas.microsoft.com/office/drawing/2014/chart" uri="{C3380CC4-5D6E-409C-BE32-E72D297353CC}">
              <c16:uniqueId val="{00000012-333B-4FAA-A209-9483CF3A2C3C}"/>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4A4A"/>
                </a:solidFill>
                <a:latin typeface="Arial"/>
              </a:defRPr>
            </a:pPr>
            <a:endParaRPr lang="en-US"/>
          </a:p>
        </c:txPr>
        <c:crossAx val="2094734552"/>
        <c:crosses val="autoZero"/>
        <c:auto val="1"/>
        <c:lblAlgn val="ctr"/>
        <c:lblOffset val="100"/>
        <c:noMultiLvlLbl val="1"/>
      </c:catAx>
      <c:valAx>
        <c:axId val="2094734552"/>
        <c:scaling>
          <c:orientation val="minMax"/>
          <c:max val="175000"/>
          <c:min val="0"/>
        </c:scaling>
        <c:delete val="0"/>
        <c:axPos val="l"/>
        <c:majorGridlines>
          <c:spPr>
            <a:ln w="6350" cap="flat">
              <a:solidFill>
                <a:srgbClr val="DDDDD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A4A4A"/>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8F4F1"/>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4A4A4A"/>
                </a:solidFill>
                <a:latin typeface="Arial"/>
              </a:defRPr>
            </a:pPr>
            <a:r>
              <a:rPr lang="en-US" sz="1100" b="0" i="0" u="none" strike="noStrike" dirty="0">
                <a:solidFill>
                  <a:srgbClr val="4A4A4A"/>
                </a:solidFill>
                <a:latin typeface="Arial"/>
              </a:rPr>
              <a:t>Top 10 Routes by Late %  — West End and Hillsboro lead the struggle bus parade</a:t>
            </a:r>
          </a:p>
        </c:rich>
      </c:tx>
      <c:overlay val="0"/>
    </c:title>
    <c:autoTitleDeleted val="0"/>
    <c:plotArea>
      <c:layout/>
      <c:barChart>
        <c:barDir val="bar"/>
        <c:grouping val="clustered"/>
        <c:varyColors val="0"/>
        <c:ser>
          <c:idx val="0"/>
          <c:order val="0"/>
          <c:tx>
            <c:strRef>
              <c:f>Sheet1!$B$1</c:f>
              <c:strCache>
                <c:ptCount val="1"/>
                <c:pt idx="0">
                  <c:v>% Late</c:v>
                </c:pt>
              </c:strCache>
            </c:strRef>
          </c:tx>
          <c:spPr>
            <a:solidFill>
              <a:srgbClr val="6B1D2B"/>
            </a:solidFill>
            <a:effectLst/>
          </c:spPr>
          <c:invertIfNegative val="0"/>
          <c:cat>
            <c:strRef>
              <c:f>Sheet1!$A$2:$A$11</c:f>
              <c:strCache>
                <c:ptCount val="10"/>
                <c:pt idx="0">
                  <c:v>West End</c:v>
                </c:pt>
                <c:pt idx="1">
                  <c:v>Hillsboro</c:v>
                </c:pt>
                <c:pt idx="2">
                  <c:v>Bordeaux</c:v>
                </c:pt>
                <c:pt idx="3">
                  <c:v>Dickerson Pike</c:v>
                </c:pt>
                <c:pt idx="4">
                  <c:v>Charlotte Pike</c:v>
                </c:pt>
                <c:pt idx="5">
                  <c:v>Nolensville Pike</c:v>
                </c:pt>
                <c:pt idx="6">
                  <c:v>Murfreesboro Pike</c:v>
                </c:pt>
                <c:pt idx="7">
                  <c:v>Gallatin Pike</c:v>
                </c:pt>
                <c:pt idx="8">
                  <c:v>Route 9</c:v>
                </c:pt>
                <c:pt idx="9">
                  <c:v>Route 14</c:v>
                </c:pt>
              </c:strCache>
            </c:strRef>
          </c:cat>
          <c:val>
            <c:numRef>
              <c:f>Sheet1!$B$2:$B$11</c:f>
              <c:numCache>
                <c:formatCode>General</c:formatCode>
                <c:ptCount val="10"/>
                <c:pt idx="0">
                  <c:v>32.1</c:v>
                </c:pt>
                <c:pt idx="1">
                  <c:v>30.4</c:v>
                </c:pt>
                <c:pt idx="2">
                  <c:v>28.9</c:v>
                </c:pt>
                <c:pt idx="3">
                  <c:v>27.6</c:v>
                </c:pt>
                <c:pt idx="4">
                  <c:v>26.3</c:v>
                </c:pt>
                <c:pt idx="5">
                  <c:v>25.8</c:v>
                </c:pt>
                <c:pt idx="6">
                  <c:v>24.2</c:v>
                </c:pt>
                <c:pt idx="7">
                  <c:v>22.7</c:v>
                </c:pt>
                <c:pt idx="8">
                  <c:v>21.4</c:v>
                </c:pt>
                <c:pt idx="9">
                  <c:v>20.100000000000001</c:v>
                </c:pt>
              </c:numCache>
            </c:numRef>
          </c:val>
          <c:extLst>
            <c:ext xmlns:c16="http://schemas.microsoft.com/office/drawing/2014/chart" uri="{C3380CC4-5D6E-409C-BE32-E72D297353CC}">
              <c16:uniqueId val="{00000000-6280-4A55-9DC4-EA992D75E728}"/>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4A4A4A"/>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DDDDDD"/>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4A4A4A"/>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8F4F1"/>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4A4A4A"/>
                </a:solidFill>
                <a:latin typeface="Arial"/>
              </a:defRPr>
            </a:pPr>
            <a:r>
              <a:rPr lang="en-US" sz="1100" b="0" i="0" u="none" strike="noStrike" dirty="0">
                <a:solidFill>
                  <a:srgbClr val="4A4A4A"/>
                </a:solidFill>
                <a:latin typeface="Arial"/>
              </a:rPr>
              <a:t>Late % by Hour — afternoon rush peaks near 28%</a:t>
            </a:r>
          </a:p>
        </c:rich>
      </c:tx>
      <c:overlay val="0"/>
    </c:title>
    <c:autoTitleDeleted val="0"/>
    <c:plotArea>
      <c:layout/>
      <c:lineChart>
        <c:grouping val="standard"/>
        <c:varyColors val="0"/>
        <c:ser>
          <c:idx val="0"/>
          <c:order val="0"/>
          <c:tx>
            <c:strRef>
              <c:f>Sheet1!$B$1</c:f>
              <c:strCache>
                <c:ptCount val="1"/>
                <c:pt idx="0">
                  <c:v>% Late</c:v>
                </c:pt>
              </c:strCache>
            </c:strRef>
          </c:tx>
          <c:spPr>
            <a:ln w="38100" cap="flat">
              <a:solidFill>
                <a:srgbClr val="C45C26"/>
              </a:solidFill>
              <a:prstDash val="solid"/>
              <a:round/>
            </a:ln>
            <a:effectLst/>
          </c:spPr>
          <c:marker>
            <c:symbol val="circle"/>
            <c:size val="6"/>
            <c:spPr>
              <a:solidFill>
                <a:srgbClr val="C45C26"/>
              </a:solidFill>
              <a:ln w="9525" cap="flat">
                <a:solidFill>
                  <a:srgbClr val="C45C26"/>
                </a:solidFill>
                <a:prstDash val="solid"/>
                <a:round/>
              </a:ln>
              <a:effectLst/>
            </c:spPr>
          </c:marker>
          <c:cat>
            <c:strRef>
              <c:f>Sheet1!$A$2:$A$21</c:f>
              <c:strCache>
                <c:ptCount val="20"/>
                <c:pt idx="0">
                  <c:v>4am</c:v>
                </c:pt>
                <c:pt idx="1">
                  <c:v>5am</c:v>
                </c:pt>
                <c:pt idx="2">
                  <c:v>6am</c:v>
                </c:pt>
                <c:pt idx="3">
                  <c:v>7am</c:v>
                </c:pt>
                <c:pt idx="4">
                  <c:v>8am</c:v>
                </c:pt>
                <c:pt idx="5">
                  <c:v>9am</c:v>
                </c:pt>
                <c:pt idx="6">
                  <c:v>10am</c:v>
                </c:pt>
                <c:pt idx="7">
                  <c:v>11am</c:v>
                </c:pt>
                <c:pt idx="8">
                  <c:v>12pm</c:v>
                </c:pt>
                <c:pt idx="9">
                  <c:v>1pm</c:v>
                </c:pt>
                <c:pt idx="10">
                  <c:v>2pm</c:v>
                </c:pt>
                <c:pt idx="11">
                  <c:v>3pm</c:v>
                </c:pt>
                <c:pt idx="12">
                  <c:v>4pm</c:v>
                </c:pt>
                <c:pt idx="13">
                  <c:v>5pm</c:v>
                </c:pt>
                <c:pt idx="14">
                  <c:v>6pm</c:v>
                </c:pt>
                <c:pt idx="15">
                  <c:v>7pm</c:v>
                </c:pt>
                <c:pt idx="16">
                  <c:v>8pm</c:v>
                </c:pt>
                <c:pt idx="17">
                  <c:v>9pm</c:v>
                </c:pt>
                <c:pt idx="18">
                  <c:v>10pm</c:v>
                </c:pt>
                <c:pt idx="19">
                  <c:v>11pm</c:v>
                </c:pt>
              </c:strCache>
            </c:strRef>
          </c:cat>
          <c:val>
            <c:numRef>
              <c:f>Sheet1!$B$2:$B$21</c:f>
              <c:numCache>
                <c:formatCode>General</c:formatCode>
                <c:ptCount val="20"/>
                <c:pt idx="0">
                  <c:v>2.1</c:v>
                </c:pt>
                <c:pt idx="1">
                  <c:v>5.3</c:v>
                </c:pt>
                <c:pt idx="2">
                  <c:v>8.9</c:v>
                </c:pt>
                <c:pt idx="3">
                  <c:v>14.2</c:v>
                </c:pt>
                <c:pt idx="4">
                  <c:v>16.8</c:v>
                </c:pt>
                <c:pt idx="5">
                  <c:v>12.4</c:v>
                </c:pt>
                <c:pt idx="6">
                  <c:v>11.8</c:v>
                </c:pt>
                <c:pt idx="7">
                  <c:v>12.1</c:v>
                </c:pt>
                <c:pt idx="8">
                  <c:v>13.2</c:v>
                </c:pt>
                <c:pt idx="9">
                  <c:v>14.5</c:v>
                </c:pt>
                <c:pt idx="10">
                  <c:v>16.3</c:v>
                </c:pt>
                <c:pt idx="11">
                  <c:v>20.100000000000001</c:v>
                </c:pt>
                <c:pt idx="12">
                  <c:v>27.8</c:v>
                </c:pt>
                <c:pt idx="13">
                  <c:v>27.2</c:v>
                </c:pt>
                <c:pt idx="14">
                  <c:v>22.4</c:v>
                </c:pt>
                <c:pt idx="15">
                  <c:v>18.600000000000001</c:v>
                </c:pt>
                <c:pt idx="16">
                  <c:v>15.2</c:v>
                </c:pt>
                <c:pt idx="17">
                  <c:v>12.8</c:v>
                </c:pt>
                <c:pt idx="18">
                  <c:v>10.4</c:v>
                </c:pt>
                <c:pt idx="19">
                  <c:v>8.6999999999999993</c:v>
                </c:pt>
              </c:numCache>
            </c:numRef>
          </c:val>
          <c:smooth val="1"/>
          <c:extLst>
            <c:ext xmlns:c16="http://schemas.microsoft.com/office/drawing/2014/chart" uri="{C3380CC4-5D6E-409C-BE32-E72D297353CC}">
              <c16:uniqueId val="{00000000-D668-4229-9011-361350D3352B}"/>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4A4A"/>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DDDDD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A4A4A"/>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8F4F1"/>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4A4A4A"/>
                </a:solidFill>
                <a:latin typeface="Arial"/>
              </a:defRPr>
            </a:pPr>
            <a:r>
              <a:rPr lang="en-US" sz="1100" b="0" i="0" u="none" strike="noStrike" dirty="0">
                <a:solidFill>
                  <a:srgbClr val="4A4A4A"/>
                </a:solidFill>
                <a:latin typeface="Arial"/>
              </a:rPr>
              <a:t>By Day Type</a:t>
            </a:r>
          </a:p>
        </c:rich>
      </c:tx>
      <c:overlay val="0"/>
    </c:title>
    <c:autoTitleDeleted val="0"/>
    <c:plotArea>
      <c:layout/>
      <c:barChart>
        <c:barDir val="col"/>
        <c:grouping val="clustered"/>
        <c:varyColors val="0"/>
        <c:ser>
          <c:idx val="0"/>
          <c:order val="0"/>
          <c:tx>
            <c:strRef>
              <c:f>Sheet1!$B$1</c:f>
              <c:strCache>
                <c:ptCount val="1"/>
                <c:pt idx="0">
                  <c:v>% Late</c:v>
                </c:pt>
              </c:strCache>
            </c:strRef>
          </c:tx>
          <c:spPr>
            <a:solidFill>
              <a:srgbClr val="6B1D2B"/>
            </a:solidFill>
            <a:effectLst/>
          </c:spPr>
          <c:invertIfNegative val="0"/>
          <c:dPt>
            <c:idx val="0"/>
            <c:invertIfNegative val="0"/>
            <c:bubble3D val="0"/>
            <c:extLst>
              <c:ext xmlns:c16="http://schemas.microsoft.com/office/drawing/2014/chart" uri="{C3380CC4-5D6E-409C-BE32-E72D297353CC}">
                <c16:uniqueId val="{00000001-FD42-4090-B6A7-F13C05802928}"/>
              </c:ext>
            </c:extLst>
          </c:dPt>
          <c:dPt>
            <c:idx val="1"/>
            <c:invertIfNegative val="0"/>
            <c:bubble3D val="0"/>
            <c:spPr>
              <a:solidFill>
                <a:srgbClr val="0D7377"/>
              </a:solidFill>
              <a:effectLst/>
            </c:spPr>
            <c:extLst>
              <c:ext xmlns:c16="http://schemas.microsoft.com/office/drawing/2014/chart" uri="{C3380CC4-5D6E-409C-BE32-E72D297353CC}">
                <c16:uniqueId val="{00000003-FD42-4090-B6A7-F13C05802928}"/>
              </c:ext>
            </c:extLst>
          </c:dPt>
          <c:dPt>
            <c:idx val="2"/>
            <c:invertIfNegative val="0"/>
            <c:bubble3D val="0"/>
            <c:spPr>
              <a:solidFill>
                <a:srgbClr val="14A7AC"/>
              </a:solidFill>
              <a:effectLst/>
            </c:spPr>
            <c:extLst>
              <c:ext xmlns:c16="http://schemas.microsoft.com/office/drawing/2014/chart" uri="{C3380CC4-5D6E-409C-BE32-E72D297353CC}">
                <c16:uniqueId val="{00000005-FD42-4090-B6A7-F13C05802928}"/>
              </c:ext>
            </c:extLst>
          </c:dPt>
          <c:dLbls>
            <c:dLbl>
              <c:idx val="0"/>
              <c:tx>
                <c:rich>
                  <a:bodyPr/>
                  <a:lstStyle/>
                  <a:p>
                    <a:fld id="{D01F0449-E0F5-43C3-A941-C4739B3CB921}" type="VALUE">
                      <a:rPr lang="en-US" smtClean="0"/>
                      <a:pPr/>
                      <a:t>[VALUE]</a:t>
                    </a:fld>
                    <a:r>
                      <a:rPr lang="en-US"/>
                      <a:t>%</a:t>
                    </a:r>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FD42-4090-B6A7-F13C05802928}"/>
                </c:ext>
              </c:extLst>
            </c:dLbl>
            <c:dLbl>
              <c:idx val="1"/>
              <c:tx>
                <c:rich>
                  <a:bodyPr/>
                  <a:lstStyle/>
                  <a:p>
                    <a:fld id="{65AEB578-2F02-4EE5-8F22-CE0D8353F465}" type="VALUE">
                      <a:rPr lang="en-US" smtClean="0"/>
                      <a:pPr/>
                      <a:t>[VALUE]</a:t>
                    </a:fld>
                    <a:r>
                      <a:rPr lang="en-US" dirty="0"/>
                      <a:t>%</a:t>
                    </a:r>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FD42-4090-B6A7-F13C05802928}"/>
                </c:ext>
              </c:extLst>
            </c:dLbl>
            <c:dLbl>
              <c:idx val="2"/>
              <c:tx>
                <c:rich>
                  <a:bodyPr/>
                  <a:lstStyle/>
                  <a:p>
                    <a:fld id="{54C5CCB3-DA6A-4F4A-A8FC-792B68767EFC}" type="VALUE">
                      <a:rPr lang="en-US" smtClean="0"/>
                      <a:pPr/>
                      <a:t>[VALUE]</a:t>
                    </a:fld>
                    <a:r>
                      <a:rPr lang="en-US"/>
                      <a:t>%</a:t>
                    </a:r>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FD42-4090-B6A7-F13C05802928}"/>
                </c:ext>
              </c:extLst>
            </c:dLbl>
            <c:numFmt formatCode="#,##0" sourceLinked="0"/>
            <c:spPr>
              <a:noFill/>
              <a:ln>
                <a:noFill/>
              </a:ln>
              <a:effectLst/>
            </c:spPr>
            <c:txPr>
              <a:bodyPr/>
              <a:lstStyle/>
              <a:p>
                <a:pPr>
                  <a:defRPr sz="1200" b="0" i="0" u="none" strike="noStrike">
                    <a:solidFill>
                      <a:srgbClr val="1A1A1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Weekday</c:v>
                </c:pt>
                <c:pt idx="1">
                  <c:v>Saturday</c:v>
                </c:pt>
                <c:pt idx="2">
                  <c:v>Sunday</c:v>
                </c:pt>
              </c:strCache>
            </c:strRef>
          </c:cat>
          <c:val>
            <c:numRef>
              <c:f>Sheet1!$B$2:$B$4</c:f>
              <c:numCache>
                <c:formatCode>General</c:formatCode>
                <c:ptCount val="3"/>
                <c:pt idx="0">
                  <c:v>18.3</c:v>
                </c:pt>
                <c:pt idx="1">
                  <c:v>17.899999999999999</c:v>
                </c:pt>
                <c:pt idx="2">
                  <c:v>11.4</c:v>
                </c:pt>
              </c:numCache>
            </c:numRef>
          </c:val>
          <c:extLst>
            <c:ext xmlns:c16="http://schemas.microsoft.com/office/drawing/2014/chart" uri="{C3380CC4-5D6E-409C-BE32-E72D297353CC}">
              <c16:uniqueId val="{00000006-FD42-4090-B6A7-F13C05802928}"/>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4A4A"/>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DDDDD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A4A4A"/>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8F4F1"/>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4A4A4A"/>
                </a:solidFill>
                <a:latin typeface="Arial"/>
              </a:defRPr>
            </a:pPr>
            <a:r>
              <a:rPr lang="en-US" sz="1100" b="0" i="0" u="none" strike="noStrike" dirty="0">
                <a:solidFill>
                  <a:srgbClr val="4A4A4A"/>
                </a:solidFill>
                <a:latin typeface="Arial"/>
              </a:rPr>
              <a:t>Distribution of Drivers by Late % (500+ crossings)</a:t>
            </a:r>
          </a:p>
        </c:rich>
      </c:tx>
      <c:overlay val="0"/>
    </c:title>
    <c:autoTitleDeleted val="0"/>
    <c:plotArea>
      <c:layout/>
      <c:barChart>
        <c:barDir val="col"/>
        <c:grouping val="clustered"/>
        <c:varyColors val="0"/>
        <c:ser>
          <c:idx val="0"/>
          <c:order val="0"/>
          <c:tx>
            <c:strRef>
              <c:f>Sheet1!$B$1</c:f>
              <c:strCache>
                <c:ptCount val="1"/>
                <c:pt idx="0">
                  <c:v># Drivers</c:v>
                </c:pt>
              </c:strCache>
            </c:strRef>
          </c:tx>
          <c:spPr>
            <a:solidFill>
              <a:srgbClr val="6B1D2B"/>
            </a:solidFill>
            <a:effectLst/>
          </c:spPr>
          <c:invertIfNegative val="0"/>
          <c:cat>
            <c:strRef>
              <c:f>Sheet1!$A$2:$A$11</c:f>
              <c:strCache>
                <c:ptCount val="10"/>
                <c:pt idx="0">
                  <c:v>0-5%</c:v>
                </c:pt>
                <c:pt idx="1">
                  <c:v>5-10%</c:v>
                </c:pt>
                <c:pt idx="2">
                  <c:v>10-15%</c:v>
                </c:pt>
                <c:pt idx="3">
                  <c:v>15-20%</c:v>
                </c:pt>
                <c:pt idx="4">
                  <c:v>20-25%</c:v>
                </c:pt>
                <c:pt idx="5">
                  <c:v>25-30%</c:v>
                </c:pt>
                <c:pt idx="6">
                  <c:v>30-35%</c:v>
                </c:pt>
                <c:pt idx="7">
                  <c:v>35-40%</c:v>
                </c:pt>
                <c:pt idx="8">
                  <c:v>40-45%</c:v>
                </c:pt>
                <c:pt idx="9">
                  <c:v>45-55%</c:v>
                </c:pt>
              </c:strCache>
            </c:strRef>
          </c:cat>
          <c:val>
            <c:numRef>
              <c:f>Sheet1!$B$2:$B$11</c:f>
              <c:numCache>
                <c:formatCode>General</c:formatCode>
                <c:ptCount val="10"/>
                <c:pt idx="0">
                  <c:v>8</c:v>
                </c:pt>
                <c:pt idx="1">
                  <c:v>22</c:v>
                </c:pt>
                <c:pt idx="2">
                  <c:v>38</c:v>
                </c:pt>
                <c:pt idx="3">
                  <c:v>47</c:v>
                </c:pt>
                <c:pt idx="4">
                  <c:v>41</c:v>
                </c:pt>
                <c:pt idx="5">
                  <c:v>28</c:v>
                </c:pt>
                <c:pt idx="6">
                  <c:v>18</c:v>
                </c:pt>
                <c:pt idx="7">
                  <c:v>10</c:v>
                </c:pt>
                <c:pt idx="8">
                  <c:v>5</c:v>
                </c:pt>
                <c:pt idx="9">
                  <c:v>2</c:v>
                </c:pt>
              </c:numCache>
            </c:numRef>
          </c:val>
          <c:extLst>
            <c:ext xmlns:c16="http://schemas.microsoft.com/office/drawing/2014/chart" uri="{C3380CC4-5D6E-409C-BE32-E72D297353CC}">
              <c16:uniqueId val="{00000000-93D1-4B36-84A5-2C99768F2F7E}"/>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4A4A"/>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DDDDD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A4A4A"/>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8F4F1"/>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4A4A4A"/>
                </a:solidFill>
                <a:latin typeface="Arial"/>
              </a:defRPr>
            </a:pPr>
            <a:r>
              <a:rPr lang="en-US" sz="1100" b="0" i="0" u="none" strike="noStrike" dirty="0">
                <a:solidFill>
                  <a:srgbClr val="4A4A4A"/>
                </a:solidFill>
                <a:latin typeface="Arial"/>
              </a:rPr>
              <a:t>Overall Classification (% of crossings)</a:t>
            </a:r>
          </a:p>
        </c:rich>
      </c:tx>
      <c:overlay val="0"/>
    </c:title>
    <c:autoTitleDeleted val="0"/>
    <c:plotArea>
      <c:layout/>
      <c:pieChart>
        <c:varyColors val="1"/>
        <c:dLbls>
          <c:showLegendKey val="0"/>
          <c:showVal val="0"/>
          <c:showCatName val="0"/>
          <c:showSerName val="0"/>
          <c:showPercent val="0"/>
          <c:showBubbleSize val="0"/>
          <c:showLeaderLines val="0"/>
        </c:dLbls>
        <c:firstSliceAng val="0"/>
      </c:pieChart>
      <c:spPr>
        <a:noFill/>
        <a:ln>
          <a:noFill/>
        </a:ln>
        <a:effectLst/>
      </c:spPr>
    </c:plotArea>
    <c:legend>
      <c:legendPos val="b"/>
      <c:overlay val="0"/>
    </c:legend>
    <c:plotVisOnly val="1"/>
    <c:dispBlanksAs val="span"/>
    <c:showDLblsOverMax val="1"/>
  </c:chart>
  <c:spPr>
    <a:solidFill>
      <a:srgbClr val="F8F4F1"/>
    </a:solidFill>
    <a:ln>
      <a:noFill/>
    </a:ln>
    <a:effectLst/>
  </c:spPr>
  <c:externalData r:id="rId1">
    <c:autoUpdate val="0"/>
  </c:externalData>
  <c:userShapes r:id="rId2"/>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4A4A4A"/>
                </a:solidFill>
                <a:latin typeface="Arial"/>
              </a:defRPr>
            </a:pPr>
            <a:r>
              <a:rPr lang="en-US" sz="1100" b="0" i="0" u="none" strike="noStrike" dirty="0">
                <a:solidFill>
                  <a:srgbClr val="4A4A4A"/>
                </a:solidFill>
                <a:latin typeface="Arial"/>
              </a:rPr>
              <a:t>Downstream Adherence by First Stop Start</a:t>
            </a:r>
          </a:p>
        </c:rich>
      </c:tx>
      <c:overlay val="0"/>
    </c:title>
    <c:autoTitleDeleted val="0"/>
    <c:plotArea>
      <c:layout/>
      <c:barChart>
        <c:barDir val="col"/>
        <c:grouping val="clustered"/>
        <c:varyColors val="0"/>
        <c:ser>
          <c:idx val="0"/>
          <c:order val="0"/>
          <c:tx>
            <c:strRef>
              <c:f>Sheet1!$B$1</c:f>
              <c:strCache>
                <c:ptCount val="1"/>
                <c:pt idx="0">
                  <c:v>Avg Downstream Adherence</c:v>
                </c:pt>
              </c:strCache>
            </c:strRef>
          </c:tx>
          <c:spPr>
            <a:solidFill>
              <a:srgbClr val="0D7377"/>
            </a:solidFill>
            <a:effectLst/>
          </c:spPr>
          <c:invertIfNegative val="0"/>
          <c:dPt>
            <c:idx val="0"/>
            <c:invertIfNegative val="0"/>
            <c:bubble3D val="0"/>
            <c:extLst>
              <c:ext xmlns:c16="http://schemas.microsoft.com/office/drawing/2014/chart" uri="{C3380CC4-5D6E-409C-BE32-E72D297353CC}">
                <c16:uniqueId val="{00000001-4CC6-47F1-A7EA-C3C96451327E}"/>
              </c:ext>
            </c:extLst>
          </c:dPt>
          <c:dPt>
            <c:idx val="1"/>
            <c:invertIfNegative val="0"/>
            <c:bubble3D val="0"/>
            <c:spPr>
              <a:solidFill>
                <a:srgbClr val="C45C26"/>
              </a:solidFill>
              <a:effectLst/>
            </c:spPr>
            <c:extLst>
              <c:ext xmlns:c16="http://schemas.microsoft.com/office/drawing/2014/chart" uri="{C3380CC4-5D6E-409C-BE32-E72D297353CC}">
                <c16:uniqueId val="{00000003-4CC6-47F1-A7EA-C3C96451327E}"/>
              </c:ext>
            </c:extLst>
          </c:dPt>
          <c:dPt>
            <c:idx val="2"/>
            <c:invertIfNegative val="0"/>
            <c:bubble3D val="0"/>
            <c:spPr>
              <a:solidFill>
                <a:srgbClr val="6B1D2B"/>
              </a:solidFill>
              <a:effectLst/>
            </c:spPr>
            <c:extLst>
              <c:ext xmlns:c16="http://schemas.microsoft.com/office/drawing/2014/chart" uri="{C3380CC4-5D6E-409C-BE32-E72D297353CC}">
                <c16:uniqueId val="{00000005-4CC6-47F1-A7EA-C3C96451327E}"/>
              </c:ext>
            </c:extLst>
          </c:dPt>
          <c:cat>
            <c:strRef>
              <c:f>Sheet1!$A$2:$A$4</c:f>
              <c:strCache>
                <c:ptCount val="3"/>
                <c:pt idx="0">
                  <c:v>On Time / Early Start</c:v>
                </c:pt>
                <c:pt idx="1">
                  <c:v>Slightly Late Start (0-6 min)</c:v>
                </c:pt>
                <c:pt idx="2">
                  <c:v>Very Late Start (6+ min)</c:v>
                </c:pt>
              </c:strCache>
            </c:strRef>
          </c:cat>
          <c:val>
            <c:numRef>
              <c:f>Sheet1!$B$2:$B$4</c:f>
              <c:numCache>
                <c:formatCode>General</c:formatCode>
                <c:ptCount val="3"/>
                <c:pt idx="0">
                  <c:v>-1.2</c:v>
                </c:pt>
                <c:pt idx="1">
                  <c:v>-1.8</c:v>
                </c:pt>
                <c:pt idx="2">
                  <c:v>-5.9</c:v>
                </c:pt>
              </c:numCache>
            </c:numRef>
          </c:val>
          <c:extLst>
            <c:ext xmlns:c16="http://schemas.microsoft.com/office/drawing/2014/chart" uri="{C3380CC4-5D6E-409C-BE32-E72D297353CC}">
              <c16:uniqueId val="{00000006-4CC6-47F1-A7EA-C3C96451327E}"/>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4A4A"/>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DDDDD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A4A4A"/>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8F4F1"/>
    </a:solid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4A4A4A"/>
                </a:solidFill>
                <a:latin typeface="Arial"/>
              </a:defRPr>
            </a:pPr>
            <a:r>
              <a:rPr lang="en-US" sz="1100" b="0" i="0" u="none" strike="noStrike" dirty="0">
                <a:solidFill>
                  <a:srgbClr val="4A4A4A"/>
                </a:solidFill>
                <a:latin typeface="Arial"/>
              </a:rPr>
              <a:t>Headway Stability by Actual Dwell/Layover Time</a:t>
            </a:r>
          </a:p>
        </c:rich>
      </c:tx>
      <c:overlay val="0"/>
    </c:title>
    <c:autoTitleDeleted val="0"/>
    <c:plotArea>
      <c:layout/>
      <c:barChart>
        <c:barDir val="col"/>
        <c:grouping val="clustered"/>
        <c:varyColors val="0"/>
        <c:ser>
          <c:idx val="0"/>
          <c:order val="0"/>
          <c:tx>
            <c:strRef>
              <c:f>Sheet1!$B$1</c:f>
              <c:strCache>
                <c:ptCount val="1"/>
                <c:pt idx="0">
                  <c:v>Avg Abs Headway Dev (min)</c:v>
                </c:pt>
              </c:strCache>
            </c:strRef>
          </c:tx>
          <c:spPr>
            <a:solidFill>
              <a:srgbClr val="6B1D2B"/>
            </a:solidFill>
            <a:effectLst/>
          </c:spPr>
          <c:invertIfNegative val="0"/>
          <c:dPt>
            <c:idx val="0"/>
            <c:invertIfNegative val="0"/>
            <c:bubble3D val="0"/>
            <c:extLst>
              <c:ext xmlns:c16="http://schemas.microsoft.com/office/drawing/2014/chart" uri="{C3380CC4-5D6E-409C-BE32-E72D297353CC}">
                <c16:uniqueId val="{00000001-F051-44A0-8570-16334E91914F}"/>
              </c:ext>
            </c:extLst>
          </c:dPt>
          <c:dPt>
            <c:idx val="1"/>
            <c:invertIfNegative val="0"/>
            <c:bubble3D val="0"/>
            <c:spPr>
              <a:solidFill>
                <a:srgbClr val="C45C26"/>
              </a:solidFill>
              <a:effectLst/>
            </c:spPr>
            <c:extLst>
              <c:ext xmlns:c16="http://schemas.microsoft.com/office/drawing/2014/chart" uri="{C3380CC4-5D6E-409C-BE32-E72D297353CC}">
                <c16:uniqueId val="{00000003-F051-44A0-8570-16334E91914F}"/>
              </c:ext>
            </c:extLst>
          </c:dPt>
          <c:dPt>
            <c:idx val="2"/>
            <c:invertIfNegative val="0"/>
            <c:bubble3D val="0"/>
            <c:spPr>
              <a:solidFill>
                <a:srgbClr val="0D7377"/>
              </a:solidFill>
              <a:effectLst/>
            </c:spPr>
            <c:extLst>
              <c:ext xmlns:c16="http://schemas.microsoft.com/office/drawing/2014/chart" uri="{C3380CC4-5D6E-409C-BE32-E72D297353CC}">
                <c16:uniqueId val="{00000005-F051-44A0-8570-16334E91914F}"/>
              </c:ext>
            </c:extLst>
          </c:dPt>
          <c:dPt>
            <c:idx val="3"/>
            <c:invertIfNegative val="0"/>
            <c:bubble3D val="0"/>
            <c:spPr>
              <a:solidFill>
                <a:srgbClr val="8C2C3E"/>
              </a:solidFill>
              <a:effectLst/>
            </c:spPr>
            <c:extLst>
              <c:ext xmlns:c16="http://schemas.microsoft.com/office/drawing/2014/chart" uri="{C3380CC4-5D6E-409C-BE32-E72D297353CC}">
                <c16:uniqueId val="{00000007-F051-44A0-8570-16334E91914F}"/>
              </c:ext>
            </c:extLst>
          </c:dPt>
          <c:cat>
            <c:strRef>
              <c:f>Sheet1!$A$2:$A$5</c:f>
              <c:strCache>
                <c:ptCount val="4"/>
                <c:pt idx="0">
                  <c:v>Short (&lt;5 min)</c:v>
                </c:pt>
                <c:pt idx="1">
                  <c:v>Medium (5-10)</c:v>
                </c:pt>
                <c:pt idx="2">
                  <c:v>Long (10-20)</c:v>
                </c:pt>
                <c:pt idx="3">
                  <c:v>Very Long (20+)</c:v>
                </c:pt>
              </c:strCache>
            </c:strRef>
          </c:cat>
          <c:val>
            <c:numRef>
              <c:f>Sheet1!$B$2:$B$5</c:f>
              <c:numCache>
                <c:formatCode>General</c:formatCode>
                <c:ptCount val="4"/>
                <c:pt idx="0">
                  <c:v>8.4</c:v>
                </c:pt>
                <c:pt idx="1">
                  <c:v>7.2</c:v>
                </c:pt>
                <c:pt idx="2">
                  <c:v>6.8</c:v>
                </c:pt>
                <c:pt idx="3">
                  <c:v>9.1</c:v>
                </c:pt>
              </c:numCache>
            </c:numRef>
          </c:val>
          <c:extLst>
            <c:ext xmlns:c16="http://schemas.microsoft.com/office/drawing/2014/chart" uri="{C3380CC4-5D6E-409C-BE32-E72D297353CC}">
              <c16:uniqueId val="{00000008-F051-44A0-8570-16334E91914F}"/>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4A4A"/>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DDDDD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A4A4A"/>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8F4F1"/>
    </a:solidFill>
    <a:ln>
      <a:noFill/>
    </a:ln>
    <a:effectLst/>
  </c:spPr>
  <c:externalData r:id="rId1">
    <c:autoUpdate val="0"/>
  </c:externalData>
</c:chartSpace>
</file>

<file path=ppt/drawings/_rels/drawing1.xml.rels><?xml version="1.0" encoding="UTF-8" standalone="yes"?>
<Relationships xmlns="http://schemas.openxmlformats.org/package/2006/relationships"><Relationship Id="rId1" Type="http://schemas.openxmlformats.org/officeDocument/2006/relationships/image" Target="../media/image9.png"/></Relationships>
</file>

<file path=ppt/drawings/drawing1.xml><?xml version="1.0" encoding="utf-8"?>
<c:userShapes xmlns:c="http://schemas.openxmlformats.org/drawingml/2006/chart">
  <cdr:relSizeAnchor xmlns:cdr="http://schemas.openxmlformats.org/drawingml/2006/chartDrawing">
    <cdr:from>
      <cdr:x>0</cdr:x>
      <cdr:y>0</cdr:y>
    </cdr:from>
    <cdr:to>
      <cdr:x>1</cdr:x>
      <cdr:y>1</cdr:y>
    </cdr:to>
    <cdr:pic>
      <cdr:nvPicPr>
        <cdr:cNvPr id="3" name="Picture 2">
          <a:extLst xmlns:a="http://schemas.openxmlformats.org/drawingml/2006/main">
            <a:ext uri="{FF2B5EF4-FFF2-40B4-BE49-F238E27FC236}">
              <a16:creationId xmlns:a16="http://schemas.microsoft.com/office/drawing/2014/main" id="{E1E52087-123C-52F7-659D-4B5DE06DEFB9}"/>
            </a:ext>
          </a:extLst>
        </cdr:cNvPr>
        <cdr:cNvPicPr>
          <a:picLocks xmlns:a="http://schemas.openxmlformats.org/drawingml/2006/main" noChangeAspect="1"/>
        </cdr:cNvPicPr>
      </cdr:nvPicPr>
      <cdr:blipFill>
        <a:blip xmlns:a="http://schemas.openxmlformats.org/drawingml/2006/main" xmlns:r="http://schemas.openxmlformats.org/officeDocument/2006/relationships" r:embed="rId1"/>
        <a:stretch xmlns:a="http://schemas.openxmlformats.org/drawingml/2006/main">
          <a:fillRect/>
        </a:stretch>
      </cdr:blipFill>
      <cdr:spPr>
        <a:xfrm xmlns:a="http://schemas.openxmlformats.org/drawingml/2006/main">
          <a:off x="0" y="-1691640"/>
          <a:ext cx="3840480" cy="3128554"/>
        </a:xfrm>
        <a:prstGeom xmlns:a="http://schemas.openxmlformats.org/drawingml/2006/main" prst="rect">
          <a:avLst/>
        </a:prstGeom>
      </cdr:spPr>
    </cdr:pic>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416136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Michelle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Michelle - First, the headline number: </a:t>
            </a:r>
            <a:r>
              <a:rPr lang="en-US" dirty="0" err="1"/>
              <a:t>WeGo</a:t>
            </a:r>
            <a:r>
              <a:rPr lang="en-US" dirty="0"/>
              <a:t> buses are on time about 80% of the time — roughly 4 out of every 5 crossings. That's actually pretty respectable for a mid-sized city transit system. About 17% of crossings are late, and less than 3% are early. So the system is generally running on schedule, but there are some clear patterns in where and when things go wrong — which is what the rest of this is about."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Michelle - When we split the data by direction, something interesting shows up. Buses heading INTO downtown are on time 85% of the time. But buses running FROM downtown? Only 75% on time, and 22% late. That's a meaningful gap. Our theory is that once a bus leaves downtown and hits regular traffic and longer routes, delays start stacking up. The further from downtown, the harder it gets to recover.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Kellen -  Geographically, the worst performance clusters right around downtown Nashville — which makes sense given what we just saw about direction. Murfreesboro Pike to the south is another hotspot. One outlier that surprised us was a stop way up north near Goodlettsville — we weren't expecting that one. On the flip side, stops at the outer edges of routes tend to perform better, which lines up with the idea that buses run cleaner when there's less congestion.“</a:t>
            </a:r>
          </a:p>
          <a:p>
            <a:endParaRPr lang="en-US" dirty="0"/>
          </a:p>
          <a:p>
            <a:r>
              <a:rPr lang="en-US" dirty="0"/>
              <a:t>DON’T FORGET BOATS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Kellen - Time of day matters a lot. The afternoon rush — 4 to 5pm — is the worst, with nearly 28% of buses running late. There's also a smaller morning spike around 7 to 8am. The best time to ride? Early morning, and especially Sunday — only 11.4% late on Sundays compared to about 18% on weekdays. Fewer people, fewer problems.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John - Here's one that surprised us a little: the individual driver is actually a significant factor. We looked at 219 drivers with at least 500 timepoint crossings. The average late rate was 18%, which matches our overall numbers. But the range was enormous — the best driver was late only 0.6% of the time, while the worst was late over 54% of the time. If lateness were purely about routes and traffic, all drivers on the same route would look similar. That spread tells us individual performance genuinely matters."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John - Now let's talk about headway — which is just the time between one bus and the next bus at the same stop. Bunching is when buses clump together, and gapping is when there's a long wait between them. The generally accepted range is 50% to 150% of the scheduled headway. Using that threshold, we found that 91.7% of crossings technically fall into the bunching category — which sounds alarming, but most of it is mild. The threshold is strict, and the median deviation is actually very close to zero."</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Leo - One of the more actionable findings: how a trip starts really matters for how it finishes. Buses that start slightly late — under 6 minutes — actually recover pretty well downstream. But buses that start more than 6 minutes late average nearly -6 minutes of adherence at subsequent stops. They almost never recover. On the headway side, we found that drivers who actually use their full layover time at the start of a trip produce more stable headways for the rest of the route. The scheduled layover time doesn't matter as much as whether the driver actually takes it."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Leo - So what's the takeaway? </a:t>
            </a:r>
            <a:r>
              <a:rPr lang="en-US" dirty="0" err="1"/>
              <a:t>WeGo</a:t>
            </a:r>
            <a:r>
              <a:rPr lang="en-US" dirty="0"/>
              <a:t> is doing pretty well overall — 79.7% on time is solid. The biggest controllable factors are rush hour scheduling, downtown route management, and driver performance. And one practical insight for the transit agency: encouraging drivers to use their full layover buffer could meaningfully improve headway stability without changing a single schedule. </a:t>
            </a:r>
            <a:r>
              <a:rPr lang="en-US"/>
              <a:t>Nashville's still got rhythm — the buses are mostly keeping up with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dirty="0"/>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chart" Target="../charts/chart1.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chart" Target="../charts/chart4.xml"/><Relationship Id="rId4" Type="http://schemas.openxmlformats.org/officeDocument/2006/relationships/chart" Target="../charts/chart3.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chart" Target="../charts/chart5.xml"/></Relationships>
</file>

<file path=ppt/slides/_rels/slide7.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1.jp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chart" Target="../charts/chart8.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2B2C"/>
        </a:solidFill>
        <a:effectLst/>
      </p:bgPr>
    </p:bg>
    <p:spTree>
      <p:nvGrpSpPr>
        <p:cNvPr id="1" name=""/>
        <p:cNvGrpSpPr/>
        <p:nvPr/>
      </p:nvGrpSpPr>
      <p:grpSpPr>
        <a:xfrm>
          <a:off x="0" y="0"/>
          <a:ext cx="0" cy="0"/>
          <a:chOff x="0" y="0"/>
          <a:chExt cx="0" cy="0"/>
        </a:xfrm>
      </p:grpSpPr>
      <p:sp>
        <p:nvSpPr>
          <p:cNvPr id="2" name="Shape 0"/>
          <p:cNvSpPr/>
          <p:nvPr/>
        </p:nvSpPr>
        <p:spPr>
          <a:xfrm>
            <a:off x="0" y="0"/>
            <a:ext cx="4754880" cy="5143500"/>
          </a:xfrm>
          <a:prstGeom prst="rect">
            <a:avLst/>
          </a:prstGeom>
          <a:solidFill>
            <a:srgbClr val="0D7377"/>
          </a:solidFill>
          <a:ln w="12700">
            <a:solidFill>
              <a:srgbClr val="0D7377"/>
            </a:solidFill>
            <a:prstDash val="solid"/>
          </a:ln>
        </p:spPr>
        <p:txBody>
          <a:bodyPr/>
          <a:lstStyle/>
          <a:p>
            <a:endParaRPr lang="en-US" dirty="0"/>
          </a:p>
        </p:txBody>
      </p:sp>
      <p:pic>
        <p:nvPicPr>
          <p:cNvPr id="3" name="Image 0" descr="preencoded.png"/>
          <p:cNvPicPr>
            <a:picLocks noChangeAspect="1"/>
          </p:cNvPicPr>
          <p:nvPr/>
        </p:nvPicPr>
        <p:blipFill>
          <a:blip r:embed="rId3"/>
          <a:stretch>
            <a:fillRect/>
          </a:stretch>
        </p:blipFill>
        <p:spPr>
          <a:xfrm>
            <a:off x="457200" y="457200"/>
            <a:ext cx="1097280" cy="1097280"/>
          </a:xfrm>
          <a:prstGeom prst="rect">
            <a:avLst/>
          </a:prstGeom>
        </p:spPr>
      </p:pic>
      <p:sp>
        <p:nvSpPr>
          <p:cNvPr id="4" name="Text 1"/>
          <p:cNvSpPr/>
          <p:nvPr/>
        </p:nvSpPr>
        <p:spPr>
          <a:xfrm>
            <a:off x="365760" y="1645920"/>
            <a:ext cx="4023360" cy="640080"/>
          </a:xfrm>
          <a:prstGeom prst="rect">
            <a:avLst/>
          </a:prstGeom>
          <a:noFill/>
          <a:ln/>
        </p:spPr>
        <p:txBody>
          <a:bodyPr wrap="square" lIns="0" tIns="0" rIns="0" bIns="0" rtlCol="0" anchor="ctr"/>
          <a:lstStyle/>
          <a:p>
            <a:pPr marL="0" indent="0" algn="l">
              <a:buNone/>
            </a:pPr>
            <a:r>
              <a:rPr lang="en-US" sz="3600" b="1" dirty="0">
                <a:solidFill>
                  <a:srgbClr val="FFFFFF"/>
                </a:solidFill>
              </a:rPr>
              <a:t>WeGo Nashville</a:t>
            </a:r>
            <a:endParaRPr lang="en-US" sz="3600" dirty="0"/>
          </a:p>
        </p:txBody>
      </p:sp>
      <p:sp>
        <p:nvSpPr>
          <p:cNvPr id="5" name="Text 2"/>
          <p:cNvSpPr/>
          <p:nvPr/>
        </p:nvSpPr>
        <p:spPr>
          <a:xfrm>
            <a:off x="365760" y="2331720"/>
            <a:ext cx="4023360" cy="960120"/>
          </a:xfrm>
          <a:prstGeom prst="rect">
            <a:avLst/>
          </a:prstGeom>
          <a:noFill/>
          <a:ln/>
        </p:spPr>
        <p:txBody>
          <a:bodyPr wrap="square" lIns="0" tIns="0" rIns="0" bIns="0" rtlCol="0" anchor="ctr"/>
          <a:lstStyle/>
          <a:p>
            <a:pPr marL="0" indent="0" algn="l">
              <a:buNone/>
            </a:pPr>
            <a:r>
              <a:rPr lang="en-US" sz="2000" dirty="0">
                <a:solidFill>
                  <a:srgbClr val="D6F0F1"/>
                </a:solidFill>
              </a:rPr>
              <a:t>Bus Performance Analysis</a:t>
            </a:r>
          </a:p>
          <a:p>
            <a:pPr marL="0" indent="0" algn="l">
              <a:buNone/>
            </a:pPr>
            <a:endParaRPr lang="en-US" sz="2000" dirty="0">
              <a:solidFill>
                <a:srgbClr val="D6F0F1"/>
              </a:solidFill>
            </a:endParaRPr>
          </a:p>
          <a:p>
            <a:pPr marL="0" indent="0" algn="l">
              <a:buNone/>
            </a:pPr>
            <a:r>
              <a:rPr lang="en-US" sz="2000" dirty="0">
                <a:solidFill>
                  <a:srgbClr val="D6F0F1"/>
                </a:solidFill>
              </a:rPr>
              <a:t>Team: Axel Rose</a:t>
            </a:r>
            <a:endParaRPr lang="en-US" sz="2000" dirty="0"/>
          </a:p>
        </p:txBody>
      </p:sp>
      <p:sp>
        <p:nvSpPr>
          <p:cNvPr id="7" name="Text 4"/>
          <p:cNvSpPr/>
          <p:nvPr/>
        </p:nvSpPr>
        <p:spPr>
          <a:xfrm>
            <a:off x="5029200" y="914400"/>
            <a:ext cx="3657600" cy="1097280"/>
          </a:xfrm>
          <a:prstGeom prst="rect">
            <a:avLst/>
          </a:prstGeom>
          <a:noFill/>
          <a:ln/>
        </p:spPr>
        <p:txBody>
          <a:bodyPr wrap="square" lIns="0" tIns="0" rIns="0" bIns="0" rtlCol="0" anchor="ctr"/>
          <a:lstStyle/>
          <a:p>
            <a:pPr marL="0" indent="0" algn="ctr">
              <a:buNone/>
            </a:pPr>
            <a:r>
              <a:rPr lang="en-US" sz="8000" dirty="0">
                <a:solidFill>
                  <a:srgbClr val="000000"/>
                </a:solidFill>
              </a:rPr>
              <a:t>🚌</a:t>
            </a:r>
            <a:endParaRPr lang="en-US" sz="8000" dirty="0"/>
          </a:p>
        </p:txBody>
      </p:sp>
      <p:sp>
        <p:nvSpPr>
          <p:cNvPr id="8" name="Text 5"/>
          <p:cNvSpPr/>
          <p:nvPr/>
        </p:nvSpPr>
        <p:spPr>
          <a:xfrm>
            <a:off x="4846320" y="2194560"/>
            <a:ext cx="4023360" cy="1097280"/>
          </a:xfrm>
          <a:prstGeom prst="rect">
            <a:avLst/>
          </a:prstGeom>
          <a:noFill/>
          <a:ln/>
        </p:spPr>
        <p:txBody>
          <a:bodyPr wrap="square" lIns="0" tIns="0" rIns="0" bIns="0" rtlCol="0" anchor="ctr"/>
          <a:lstStyle/>
          <a:p>
            <a:pPr marL="0" indent="0" algn="ctr">
              <a:buNone/>
            </a:pPr>
            <a:r>
              <a:rPr lang="en-US" sz="1600" i="1" dirty="0">
                <a:solidFill>
                  <a:srgbClr val="D6F0F1"/>
                </a:solidFill>
              </a:rPr>
              <a:t>We analyzed 338,000+ bus crossings </a:t>
            </a:r>
          </a:p>
          <a:p>
            <a:pPr marL="0" indent="0" algn="ctr">
              <a:buNone/>
            </a:pPr>
            <a:r>
              <a:rPr lang="en-US" sz="1600" i="1" dirty="0">
                <a:solidFill>
                  <a:srgbClr val="D6F0F1"/>
                </a:solidFill>
              </a:rPr>
              <a:t>so you didn’t have to.</a:t>
            </a:r>
            <a:endParaRPr lang="en-US" sz="1600" dirty="0"/>
          </a:p>
        </p:txBody>
      </p:sp>
      <p:sp>
        <p:nvSpPr>
          <p:cNvPr id="9" name="Text 6"/>
          <p:cNvSpPr/>
          <p:nvPr/>
        </p:nvSpPr>
        <p:spPr>
          <a:xfrm>
            <a:off x="4846320" y="3291840"/>
            <a:ext cx="4023360" cy="457200"/>
          </a:xfrm>
          <a:prstGeom prst="rect">
            <a:avLst/>
          </a:prstGeom>
          <a:noFill/>
          <a:ln/>
        </p:spPr>
        <p:txBody>
          <a:bodyPr wrap="square" lIns="0" tIns="0" rIns="0" bIns="0" rtlCol="0" anchor="ctr"/>
          <a:lstStyle/>
          <a:p>
            <a:pPr marL="0" indent="0" algn="ctr">
              <a:buNone/>
            </a:pPr>
            <a:r>
              <a:rPr lang="en-US" sz="1300" i="1" dirty="0">
                <a:solidFill>
                  <a:srgbClr val="E07840"/>
                </a:solidFill>
              </a:rPr>
              <a:t>You're welcome, Nashville. 🎸</a:t>
            </a:r>
            <a:endParaRPr lang="en-US" sz="1300" dirty="0"/>
          </a:p>
        </p:txBody>
      </p:sp>
      <p:sp>
        <p:nvSpPr>
          <p:cNvPr id="10" name="Shape 7"/>
          <p:cNvSpPr/>
          <p:nvPr/>
        </p:nvSpPr>
        <p:spPr>
          <a:xfrm>
            <a:off x="0" y="4754880"/>
            <a:ext cx="9144000" cy="388620"/>
          </a:xfrm>
          <a:prstGeom prst="rect">
            <a:avLst/>
          </a:prstGeom>
          <a:solidFill>
            <a:srgbClr val="6B1D2B"/>
          </a:solidFill>
          <a:ln w="12700">
            <a:solidFill>
              <a:srgbClr val="6B1D2B"/>
            </a:solidFill>
            <a:prstDash val="solid"/>
          </a:ln>
        </p:spPr>
        <p:txBody>
          <a:bodyPr/>
          <a:lstStyle/>
          <a:p>
            <a:endParaRPr lang="en-US" dirty="0"/>
          </a:p>
        </p:txBody>
      </p:sp>
      <p:sp>
        <p:nvSpPr>
          <p:cNvPr id="11" name="Text 8"/>
          <p:cNvSpPr/>
          <p:nvPr/>
        </p:nvSpPr>
        <p:spPr>
          <a:xfrm>
            <a:off x="0" y="4754880"/>
            <a:ext cx="9144000" cy="388620"/>
          </a:xfrm>
          <a:prstGeom prst="rect">
            <a:avLst/>
          </a:prstGeom>
          <a:noFill/>
          <a:ln/>
        </p:spPr>
        <p:txBody>
          <a:bodyPr wrap="square" lIns="0" tIns="0" rIns="0" bIns="0" rtlCol="0" anchor="ctr"/>
          <a:lstStyle/>
          <a:p>
            <a:pPr marL="0" indent="0" algn="ctr">
              <a:buNone/>
            </a:pPr>
            <a:r>
              <a:rPr lang="en-US" sz="1100" dirty="0">
                <a:solidFill>
                  <a:srgbClr val="FFFFFF"/>
                </a:solidFill>
              </a:rPr>
              <a:t>NewForce Cohort 12  •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4F1"/>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D7377"/>
          </a:solidFill>
          <a:ln w="12700">
            <a:solidFill>
              <a:srgbClr val="0D7377"/>
            </a:solidFill>
            <a:prstDash val="solid"/>
          </a:ln>
        </p:spPr>
        <p:txBody>
          <a:bodyPr/>
          <a:lstStyle/>
          <a:p>
            <a:endParaRPr lang="en-US" dirty="0"/>
          </a:p>
        </p:txBody>
      </p:sp>
      <p:sp>
        <p:nvSpPr>
          <p:cNvPr id="3" name="Text 1"/>
          <p:cNvSpPr/>
          <p:nvPr/>
        </p:nvSpPr>
        <p:spPr>
          <a:xfrm>
            <a:off x="365760" y="228600"/>
            <a:ext cx="8412480" cy="548640"/>
          </a:xfrm>
          <a:prstGeom prst="rect">
            <a:avLst/>
          </a:prstGeom>
          <a:noFill/>
          <a:ln/>
        </p:spPr>
        <p:txBody>
          <a:bodyPr wrap="square" lIns="0" tIns="0" rIns="0" bIns="0" rtlCol="0" anchor="ctr"/>
          <a:lstStyle/>
          <a:p>
            <a:pPr marL="0" indent="0" algn="l">
              <a:buNone/>
            </a:pPr>
            <a:r>
              <a:rPr lang="en-US" sz="2800" b="1" dirty="0">
                <a:solidFill>
                  <a:srgbClr val="0D7377"/>
                </a:solidFill>
              </a:rPr>
              <a:t>The Big Picture: Are We On Time?</a:t>
            </a:r>
            <a:endParaRPr lang="en-US" sz="2800" dirty="0"/>
          </a:p>
        </p:txBody>
      </p:sp>
      <p:sp>
        <p:nvSpPr>
          <p:cNvPr id="4" name="Shape 2"/>
          <p:cNvSpPr/>
          <p:nvPr/>
        </p:nvSpPr>
        <p:spPr>
          <a:xfrm>
            <a:off x="320040" y="914400"/>
            <a:ext cx="2560320" cy="1691640"/>
          </a:xfrm>
          <a:prstGeom prst="rect">
            <a:avLst/>
          </a:prstGeom>
          <a:solidFill>
            <a:srgbClr val="0D7377"/>
          </a:solidFill>
          <a:ln w="12700">
            <a:solidFill>
              <a:srgbClr val="0D7377"/>
            </a:solidFill>
            <a:prstDash val="solid"/>
          </a:ln>
          <a:effectLst>
            <a:outerShdw blurRad="101600" dist="38100" dir="8100000" algn="bl" rotWithShape="0">
              <a:srgbClr val="000000">
                <a:alpha val="12000"/>
              </a:srgbClr>
            </a:outerShdw>
          </a:effectLst>
        </p:spPr>
        <p:txBody>
          <a:bodyPr/>
          <a:lstStyle/>
          <a:p>
            <a:endParaRPr lang="en-US" dirty="0"/>
          </a:p>
        </p:txBody>
      </p:sp>
      <p:pic>
        <p:nvPicPr>
          <p:cNvPr id="5" name="Image 0" descr="preencoded.png"/>
          <p:cNvPicPr>
            <a:picLocks noChangeAspect="1"/>
          </p:cNvPicPr>
          <p:nvPr/>
        </p:nvPicPr>
        <p:blipFill>
          <a:blip r:embed="rId3"/>
          <a:stretch>
            <a:fillRect/>
          </a:stretch>
        </p:blipFill>
        <p:spPr>
          <a:xfrm>
            <a:off x="457200" y="1051560"/>
            <a:ext cx="411480" cy="411480"/>
          </a:xfrm>
          <a:prstGeom prst="rect">
            <a:avLst/>
          </a:prstGeom>
        </p:spPr>
      </p:pic>
      <p:sp>
        <p:nvSpPr>
          <p:cNvPr id="6" name="Text 3"/>
          <p:cNvSpPr/>
          <p:nvPr/>
        </p:nvSpPr>
        <p:spPr>
          <a:xfrm>
            <a:off x="320040" y="1371600"/>
            <a:ext cx="2560320" cy="685800"/>
          </a:xfrm>
          <a:prstGeom prst="rect">
            <a:avLst/>
          </a:prstGeom>
          <a:noFill/>
          <a:ln/>
        </p:spPr>
        <p:txBody>
          <a:bodyPr wrap="square" lIns="0" tIns="0" rIns="0" bIns="0" rtlCol="0" anchor="ctr"/>
          <a:lstStyle/>
          <a:p>
            <a:pPr marL="0" indent="0" algn="ctr">
              <a:buNone/>
            </a:pPr>
            <a:r>
              <a:rPr lang="en-US" sz="3600" b="1" dirty="0">
                <a:solidFill>
                  <a:srgbClr val="FFFFFF"/>
                </a:solidFill>
              </a:rPr>
              <a:t>79.7%</a:t>
            </a:r>
            <a:endParaRPr lang="en-US" sz="3600" dirty="0"/>
          </a:p>
        </p:txBody>
      </p:sp>
      <p:sp>
        <p:nvSpPr>
          <p:cNvPr id="7" name="Text 4"/>
          <p:cNvSpPr/>
          <p:nvPr/>
        </p:nvSpPr>
        <p:spPr>
          <a:xfrm>
            <a:off x="320040" y="2011680"/>
            <a:ext cx="2560320" cy="411480"/>
          </a:xfrm>
          <a:prstGeom prst="rect">
            <a:avLst/>
          </a:prstGeom>
          <a:noFill/>
          <a:ln/>
        </p:spPr>
        <p:txBody>
          <a:bodyPr wrap="square" lIns="0" tIns="0" rIns="0" bIns="0" rtlCol="0" anchor="ctr"/>
          <a:lstStyle/>
          <a:p>
            <a:pPr marL="0" indent="0" algn="ctr">
              <a:buNone/>
            </a:pPr>
            <a:r>
              <a:rPr lang="en-US" sz="1100" dirty="0">
                <a:solidFill>
                  <a:srgbClr val="FFFFFF"/>
                </a:solidFill>
              </a:rPr>
              <a:t>On Time</a:t>
            </a:r>
            <a:endParaRPr lang="en-US" sz="1100" dirty="0"/>
          </a:p>
        </p:txBody>
      </p:sp>
      <p:sp>
        <p:nvSpPr>
          <p:cNvPr id="8" name="Shape 5"/>
          <p:cNvSpPr/>
          <p:nvPr/>
        </p:nvSpPr>
        <p:spPr>
          <a:xfrm>
            <a:off x="3154680" y="914400"/>
            <a:ext cx="2560320" cy="1691640"/>
          </a:xfrm>
          <a:prstGeom prst="rect">
            <a:avLst/>
          </a:prstGeom>
          <a:solidFill>
            <a:srgbClr val="6B1D2B"/>
          </a:solidFill>
          <a:ln w="12700">
            <a:solidFill>
              <a:srgbClr val="6B1D2B"/>
            </a:solidFill>
            <a:prstDash val="solid"/>
          </a:ln>
          <a:effectLst>
            <a:outerShdw blurRad="101600" dist="38100" dir="8100000" algn="bl" rotWithShape="0">
              <a:srgbClr val="000000">
                <a:alpha val="12000"/>
              </a:srgbClr>
            </a:outerShdw>
          </a:effectLst>
        </p:spPr>
        <p:txBody>
          <a:bodyPr/>
          <a:lstStyle/>
          <a:p>
            <a:endParaRPr lang="en-US" dirty="0"/>
          </a:p>
        </p:txBody>
      </p:sp>
      <p:pic>
        <p:nvPicPr>
          <p:cNvPr id="9" name="Image 1" descr="preencoded.png"/>
          <p:cNvPicPr>
            <a:picLocks noChangeAspect="1"/>
          </p:cNvPicPr>
          <p:nvPr/>
        </p:nvPicPr>
        <p:blipFill>
          <a:blip r:embed="rId4"/>
          <a:stretch>
            <a:fillRect/>
          </a:stretch>
        </p:blipFill>
        <p:spPr>
          <a:xfrm>
            <a:off x="3291840" y="1051560"/>
            <a:ext cx="411480" cy="411480"/>
          </a:xfrm>
          <a:prstGeom prst="rect">
            <a:avLst/>
          </a:prstGeom>
        </p:spPr>
      </p:pic>
      <p:sp>
        <p:nvSpPr>
          <p:cNvPr id="10" name="Text 6"/>
          <p:cNvSpPr/>
          <p:nvPr/>
        </p:nvSpPr>
        <p:spPr>
          <a:xfrm>
            <a:off x="3154680" y="1371600"/>
            <a:ext cx="2560320" cy="685800"/>
          </a:xfrm>
          <a:prstGeom prst="rect">
            <a:avLst/>
          </a:prstGeom>
          <a:noFill/>
          <a:ln/>
        </p:spPr>
        <p:txBody>
          <a:bodyPr wrap="square" lIns="0" tIns="0" rIns="0" bIns="0" rtlCol="0" anchor="ctr"/>
          <a:lstStyle/>
          <a:p>
            <a:pPr marL="0" indent="0" algn="ctr">
              <a:buNone/>
            </a:pPr>
            <a:r>
              <a:rPr lang="en-US" sz="3600" b="1" dirty="0">
                <a:solidFill>
                  <a:srgbClr val="FFFFFF"/>
                </a:solidFill>
              </a:rPr>
              <a:t>17.4%</a:t>
            </a:r>
            <a:endParaRPr lang="en-US" sz="3600" dirty="0"/>
          </a:p>
        </p:txBody>
      </p:sp>
      <p:sp>
        <p:nvSpPr>
          <p:cNvPr id="11" name="Text 7"/>
          <p:cNvSpPr/>
          <p:nvPr/>
        </p:nvSpPr>
        <p:spPr>
          <a:xfrm>
            <a:off x="3154680" y="2011680"/>
            <a:ext cx="2560320" cy="411480"/>
          </a:xfrm>
          <a:prstGeom prst="rect">
            <a:avLst/>
          </a:prstGeom>
          <a:noFill/>
          <a:ln/>
        </p:spPr>
        <p:txBody>
          <a:bodyPr wrap="square" lIns="0" tIns="0" rIns="0" bIns="0" rtlCol="0" anchor="ctr"/>
          <a:lstStyle/>
          <a:p>
            <a:pPr marL="0" indent="0" algn="ctr">
              <a:buNone/>
            </a:pPr>
            <a:r>
              <a:rPr lang="en-US" sz="1100" dirty="0">
                <a:solidFill>
                  <a:srgbClr val="FFFFFF"/>
                </a:solidFill>
              </a:rPr>
              <a:t>Late</a:t>
            </a:r>
            <a:endParaRPr lang="en-US" sz="1100" dirty="0"/>
          </a:p>
        </p:txBody>
      </p:sp>
      <p:sp>
        <p:nvSpPr>
          <p:cNvPr id="12" name="Shape 8"/>
          <p:cNvSpPr/>
          <p:nvPr/>
        </p:nvSpPr>
        <p:spPr>
          <a:xfrm>
            <a:off x="5989320" y="914400"/>
            <a:ext cx="2560320" cy="1691640"/>
          </a:xfrm>
          <a:prstGeom prst="rect">
            <a:avLst/>
          </a:prstGeom>
          <a:solidFill>
            <a:srgbClr val="C45C26"/>
          </a:solidFill>
          <a:ln w="12700">
            <a:solidFill>
              <a:srgbClr val="C45C26"/>
            </a:solidFill>
            <a:prstDash val="solid"/>
          </a:ln>
          <a:effectLst>
            <a:outerShdw blurRad="101600" dist="38100" dir="8100000" algn="bl" rotWithShape="0">
              <a:srgbClr val="000000">
                <a:alpha val="12000"/>
              </a:srgbClr>
            </a:outerShdw>
          </a:effectLst>
        </p:spPr>
        <p:txBody>
          <a:bodyPr/>
          <a:lstStyle/>
          <a:p>
            <a:endParaRPr lang="en-US" dirty="0"/>
          </a:p>
        </p:txBody>
      </p:sp>
      <p:pic>
        <p:nvPicPr>
          <p:cNvPr id="13" name="Image 2" descr="preencoded.png"/>
          <p:cNvPicPr>
            <a:picLocks noChangeAspect="1"/>
          </p:cNvPicPr>
          <p:nvPr/>
        </p:nvPicPr>
        <p:blipFill>
          <a:blip r:embed="rId5"/>
          <a:stretch>
            <a:fillRect/>
          </a:stretch>
        </p:blipFill>
        <p:spPr>
          <a:xfrm>
            <a:off x="6126480" y="1051560"/>
            <a:ext cx="411480" cy="411480"/>
          </a:xfrm>
          <a:prstGeom prst="rect">
            <a:avLst/>
          </a:prstGeom>
        </p:spPr>
      </p:pic>
      <p:sp>
        <p:nvSpPr>
          <p:cNvPr id="14" name="Text 9"/>
          <p:cNvSpPr/>
          <p:nvPr/>
        </p:nvSpPr>
        <p:spPr>
          <a:xfrm>
            <a:off x="5989320" y="1371600"/>
            <a:ext cx="2560320" cy="685800"/>
          </a:xfrm>
          <a:prstGeom prst="rect">
            <a:avLst/>
          </a:prstGeom>
          <a:noFill/>
          <a:ln/>
        </p:spPr>
        <p:txBody>
          <a:bodyPr wrap="square" lIns="0" tIns="0" rIns="0" bIns="0" rtlCol="0" anchor="ctr"/>
          <a:lstStyle/>
          <a:p>
            <a:pPr marL="0" indent="0" algn="ctr">
              <a:buNone/>
            </a:pPr>
            <a:r>
              <a:rPr lang="en-US" sz="3600" b="1" dirty="0">
                <a:solidFill>
                  <a:srgbClr val="FFFFFF"/>
                </a:solidFill>
              </a:rPr>
              <a:t>2.9%</a:t>
            </a:r>
            <a:endParaRPr lang="en-US" sz="3600" dirty="0"/>
          </a:p>
        </p:txBody>
      </p:sp>
      <p:sp>
        <p:nvSpPr>
          <p:cNvPr id="15" name="Text 10"/>
          <p:cNvSpPr/>
          <p:nvPr/>
        </p:nvSpPr>
        <p:spPr>
          <a:xfrm>
            <a:off x="5989320" y="2011680"/>
            <a:ext cx="2560320" cy="411480"/>
          </a:xfrm>
          <a:prstGeom prst="rect">
            <a:avLst/>
          </a:prstGeom>
          <a:noFill/>
          <a:ln/>
        </p:spPr>
        <p:txBody>
          <a:bodyPr wrap="square" lIns="0" tIns="0" rIns="0" bIns="0" rtlCol="0" anchor="ctr"/>
          <a:lstStyle/>
          <a:p>
            <a:pPr marL="0" indent="0" algn="ctr">
              <a:buNone/>
            </a:pPr>
            <a:r>
              <a:rPr lang="en-US" sz="1100" dirty="0">
                <a:solidFill>
                  <a:srgbClr val="FFFFFF"/>
                </a:solidFill>
              </a:rPr>
              <a:t>Early</a:t>
            </a:r>
            <a:endParaRPr lang="en-US" sz="1100" dirty="0"/>
          </a:p>
        </p:txBody>
      </p:sp>
      <p:graphicFrame>
        <p:nvGraphicFramePr>
          <p:cNvPr id="16" name="Chart 0"/>
          <p:cNvGraphicFramePr/>
          <p:nvPr>
            <p:extLst>
              <p:ext uri="{D42A27DB-BD31-4B8C-83A1-F6EECF244321}">
                <p14:modId xmlns:p14="http://schemas.microsoft.com/office/powerpoint/2010/main" val="2750683648"/>
              </p:ext>
            </p:extLst>
          </p:nvPr>
        </p:nvGraphicFramePr>
        <p:xfrm>
          <a:off x="320040" y="2697479"/>
          <a:ext cx="8503920" cy="2304011"/>
        </p:xfrm>
        <a:graphic>
          <a:graphicData uri="http://schemas.openxmlformats.org/drawingml/2006/chart">
            <c:chart xmlns:c="http://schemas.openxmlformats.org/drawingml/2006/chart" xmlns:r="http://schemas.openxmlformats.org/officeDocument/2006/relationships" r:id="rId6"/>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4F1"/>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6B1D2B"/>
          </a:solidFill>
          <a:ln w="12700">
            <a:solidFill>
              <a:srgbClr val="6B1D2B"/>
            </a:solidFill>
            <a:prstDash val="solid"/>
          </a:ln>
        </p:spPr>
        <p:txBody>
          <a:bodyPr/>
          <a:lstStyle/>
          <a:p>
            <a:endParaRPr lang="en-US" dirty="0"/>
          </a:p>
        </p:txBody>
      </p:sp>
      <p:sp>
        <p:nvSpPr>
          <p:cNvPr id="3" name="Text 1"/>
          <p:cNvSpPr/>
          <p:nvPr/>
        </p:nvSpPr>
        <p:spPr>
          <a:xfrm>
            <a:off x="365760" y="228600"/>
            <a:ext cx="8412480" cy="548640"/>
          </a:xfrm>
          <a:prstGeom prst="rect">
            <a:avLst/>
          </a:prstGeom>
          <a:noFill/>
          <a:ln/>
        </p:spPr>
        <p:txBody>
          <a:bodyPr wrap="square" lIns="0" tIns="0" rIns="0" bIns="0" rtlCol="0" anchor="ctr"/>
          <a:lstStyle/>
          <a:p>
            <a:pPr marL="0" indent="0" algn="l">
              <a:buNone/>
            </a:pPr>
            <a:r>
              <a:rPr lang="en-US" sz="2800" b="1" dirty="0">
                <a:solidFill>
                  <a:srgbClr val="6B1D2B"/>
                </a:solidFill>
              </a:rPr>
              <a:t>Does Direction Matter? (Spoiler: Yes.)</a:t>
            </a:r>
            <a:endParaRPr lang="en-US" sz="2800" dirty="0"/>
          </a:p>
        </p:txBody>
      </p:sp>
      <p:sp>
        <p:nvSpPr>
          <p:cNvPr id="4" name="Shape 2"/>
          <p:cNvSpPr/>
          <p:nvPr/>
        </p:nvSpPr>
        <p:spPr>
          <a:xfrm>
            <a:off x="320040" y="914400"/>
            <a:ext cx="3931920" cy="1828800"/>
          </a:xfrm>
          <a:prstGeom prst="rect">
            <a:avLst/>
          </a:prstGeom>
          <a:solidFill>
            <a:srgbClr val="0D7377"/>
          </a:solidFill>
          <a:ln w="12700">
            <a:solidFill>
              <a:srgbClr val="0D7377"/>
            </a:solidFill>
            <a:prstDash val="solid"/>
          </a:ln>
          <a:effectLst>
            <a:outerShdw blurRad="101600" dist="38100" dir="8100000" algn="bl" rotWithShape="0">
              <a:srgbClr val="000000">
                <a:alpha val="12000"/>
              </a:srgbClr>
            </a:outerShdw>
          </a:effectLst>
        </p:spPr>
        <p:txBody>
          <a:bodyPr/>
          <a:lstStyle/>
          <a:p>
            <a:endParaRPr lang="en-US" dirty="0"/>
          </a:p>
        </p:txBody>
      </p:sp>
      <p:sp>
        <p:nvSpPr>
          <p:cNvPr id="5" name="Text 3"/>
          <p:cNvSpPr/>
          <p:nvPr/>
        </p:nvSpPr>
        <p:spPr>
          <a:xfrm>
            <a:off x="320040" y="960120"/>
            <a:ext cx="3931920" cy="411480"/>
          </a:xfrm>
          <a:prstGeom prst="rect">
            <a:avLst/>
          </a:prstGeom>
          <a:noFill/>
          <a:ln/>
        </p:spPr>
        <p:txBody>
          <a:bodyPr wrap="square" lIns="0" tIns="0" rIns="0" bIns="0" rtlCol="0" anchor="ctr"/>
          <a:lstStyle/>
          <a:p>
            <a:pPr marL="0" indent="0" algn="ctr">
              <a:buNone/>
            </a:pPr>
            <a:r>
              <a:rPr lang="en-US" sz="1500" b="1" dirty="0">
                <a:solidFill>
                  <a:srgbClr val="FFFFFF"/>
                </a:solidFill>
              </a:rPr>
              <a:t>FROM Downtown</a:t>
            </a:r>
            <a:endParaRPr lang="en-US" sz="1500" dirty="0"/>
          </a:p>
        </p:txBody>
      </p:sp>
      <p:sp>
        <p:nvSpPr>
          <p:cNvPr id="6" name="Text 4"/>
          <p:cNvSpPr/>
          <p:nvPr/>
        </p:nvSpPr>
        <p:spPr>
          <a:xfrm>
            <a:off x="320040" y="1417320"/>
            <a:ext cx="3931920" cy="457200"/>
          </a:xfrm>
          <a:prstGeom prst="rect">
            <a:avLst/>
          </a:prstGeom>
          <a:noFill/>
          <a:ln/>
        </p:spPr>
        <p:txBody>
          <a:bodyPr wrap="square" lIns="0" tIns="0" rIns="0" bIns="0" rtlCol="0" anchor="ctr"/>
          <a:lstStyle/>
          <a:p>
            <a:pPr marL="0" indent="0" algn="ctr">
              <a:buNone/>
            </a:pPr>
            <a:r>
              <a:rPr lang="en-US" sz="2000" b="1" dirty="0">
                <a:solidFill>
                  <a:srgbClr val="FFFFFF"/>
                </a:solidFill>
              </a:rPr>
              <a:t>75%  on time</a:t>
            </a:r>
            <a:endParaRPr lang="en-US" sz="2000" dirty="0"/>
          </a:p>
        </p:txBody>
      </p:sp>
      <p:sp>
        <p:nvSpPr>
          <p:cNvPr id="7" name="Text 5"/>
          <p:cNvSpPr/>
          <p:nvPr/>
        </p:nvSpPr>
        <p:spPr>
          <a:xfrm>
            <a:off x="320040" y="1920240"/>
            <a:ext cx="3931920" cy="365760"/>
          </a:xfrm>
          <a:prstGeom prst="rect">
            <a:avLst/>
          </a:prstGeom>
          <a:noFill/>
          <a:ln/>
        </p:spPr>
        <p:txBody>
          <a:bodyPr wrap="square" lIns="0" tIns="0" rIns="0" bIns="0" rtlCol="0" anchor="ctr"/>
          <a:lstStyle/>
          <a:p>
            <a:pPr marL="0" indent="0" algn="ctr">
              <a:buNone/>
            </a:pPr>
            <a:r>
              <a:rPr lang="en-US" sz="1300" dirty="0">
                <a:solidFill>
                  <a:srgbClr val="D6F0F1"/>
                </a:solidFill>
              </a:rPr>
              <a:t>22% late  •  3% early</a:t>
            </a:r>
            <a:endParaRPr lang="en-US" sz="1300" dirty="0"/>
          </a:p>
        </p:txBody>
      </p:sp>
      <p:sp>
        <p:nvSpPr>
          <p:cNvPr id="8" name="Text 6"/>
          <p:cNvSpPr/>
          <p:nvPr/>
        </p:nvSpPr>
        <p:spPr>
          <a:xfrm>
            <a:off x="320040" y="2331720"/>
            <a:ext cx="3931920" cy="320040"/>
          </a:xfrm>
          <a:prstGeom prst="rect">
            <a:avLst/>
          </a:prstGeom>
          <a:noFill/>
          <a:ln/>
        </p:spPr>
        <p:txBody>
          <a:bodyPr wrap="square" lIns="0" tIns="0" rIns="0" bIns="0" rtlCol="0" anchor="ctr"/>
          <a:lstStyle/>
          <a:p>
            <a:pPr marL="0" indent="0" algn="ctr">
              <a:buNone/>
            </a:pPr>
            <a:r>
              <a:rPr lang="en-US" sz="1000" i="1" dirty="0">
                <a:solidFill>
                  <a:srgbClr val="D6F0F1"/>
                </a:solidFill>
              </a:rPr>
              <a:t>🚌💨 (running FROM downtown gets messy)</a:t>
            </a:r>
            <a:endParaRPr lang="en-US" sz="1000" dirty="0"/>
          </a:p>
        </p:txBody>
      </p:sp>
      <p:sp>
        <p:nvSpPr>
          <p:cNvPr id="9" name="Shape 7"/>
          <p:cNvSpPr/>
          <p:nvPr/>
        </p:nvSpPr>
        <p:spPr>
          <a:xfrm>
            <a:off x="4892040" y="914400"/>
            <a:ext cx="3931920" cy="1828800"/>
          </a:xfrm>
          <a:prstGeom prst="rect">
            <a:avLst/>
          </a:prstGeom>
          <a:solidFill>
            <a:srgbClr val="C45C26"/>
          </a:solidFill>
          <a:ln w="12700">
            <a:solidFill>
              <a:srgbClr val="C45C26"/>
            </a:solidFill>
            <a:prstDash val="solid"/>
          </a:ln>
          <a:effectLst>
            <a:outerShdw blurRad="101600" dist="38100" dir="8100000" algn="bl" rotWithShape="0">
              <a:srgbClr val="000000">
                <a:alpha val="12000"/>
              </a:srgbClr>
            </a:outerShdw>
          </a:effectLst>
        </p:spPr>
        <p:txBody>
          <a:bodyPr/>
          <a:lstStyle/>
          <a:p>
            <a:endParaRPr lang="en-US" dirty="0"/>
          </a:p>
        </p:txBody>
      </p:sp>
      <p:sp>
        <p:nvSpPr>
          <p:cNvPr id="10" name="Text 8"/>
          <p:cNvSpPr/>
          <p:nvPr/>
        </p:nvSpPr>
        <p:spPr>
          <a:xfrm>
            <a:off x="4892040" y="960120"/>
            <a:ext cx="3931920" cy="411480"/>
          </a:xfrm>
          <a:prstGeom prst="rect">
            <a:avLst/>
          </a:prstGeom>
          <a:noFill/>
          <a:ln/>
        </p:spPr>
        <p:txBody>
          <a:bodyPr wrap="square" lIns="0" tIns="0" rIns="0" bIns="0" rtlCol="0" anchor="ctr"/>
          <a:lstStyle/>
          <a:p>
            <a:pPr marL="0" indent="0" algn="ctr">
              <a:buNone/>
            </a:pPr>
            <a:r>
              <a:rPr lang="en-US" sz="1500" b="1" dirty="0">
                <a:solidFill>
                  <a:srgbClr val="FFFFFF"/>
                </a:solidFill>
              </a:rPr>
              <a:t>TO Downtown</a:t>
            </a:r>
            <a:endParaRPr lang="en-US" sz="1500" dirty="0"/>
          </a:p>
        </p:txBody>
      </p:sp>
      <p:sp>
        <p:nvSpPr>
          <p:cNvPr id="11" name="Text 9"/>
          <p:cNvSpPr/>
          <p:nvPr/>
        </p:nvSpPr>
        <p:spPr>
          <a:xfrm>
            <a:off x="4892040" y="1417320"/>
            <a:ext cx="3931920" cy="457200"/>
          </a:xfrm>
          <a:prstGeom prst="rect">
            <a:avLst/>
          </a:prstGeom>
          <a:noFill/>
          <a:ln/>
        </p:spPr>
        <p:txBody>
          <a:bodyPr wrap="square" lIns="0" tIns="0" rIns="0" bIns="0" rtlCol="0" anchor="ctr"/>
          <a:lstStyle/>
          <a:p>
            <a:pPr marL="0" indent="0" algn="ctr">
              <a:buNone/>
            </a:pPr>
            <a:r>
              <a:rPr lang="en-US" sz="2000" b="1" dirty="0">
                <a:solidFill>
                  <a:srgbClr val="FFFFFF"/>
                </a:solidFill>
              </a:rPr>
              <a:t>85%  on time</a:t>
            </a:r>
            <a:endParaRPr lang="en-US" sz="2000" dirty="0"/>
          </a:p>
        </p:txBody>
      </p:sp>
      <p:sp>
        <p:nvSpPr>
          <p:cNvPr id="12" name="Text 10"/>
          <p:cNvSpPr/>
          <p:nvPr/>
        </p:nvSpPr>
        <p:spPr>
          <a:xfrm>
            <a:off x="4892040" y="1920240"/>
            <a:ext cx="3931920" cy="365760"/>
          </a:xfrm>
          <a:prstGeom prst="rect">
            <a:avLst/>
          </a:prstGeom>
          <a:noFill/>
          <a:ln/>
        </p:spPr>
        <p:txBody>
          <a:bodyPr wrap="square" lIns="0" tIns="0" rIns="0" bIns="0" rtlCol="0" anchor="ctr"/>
          <a:lstStyle/>
          <a:p>
            <a:pPr marL="0" indent="0" algn="ctr">
              <a:buNone/>
            </a:pPr>
            <a:r>
              <a:rPr lang="en-US" sz="1300" dirty="0">
                <a:solidFill>
                  <a:srgbClr val="F8F4F1"/>
                </a:solidFill>
              </a:rPr>
              <a:t>12% late  •  2% early</a:t>
            </a:r>
            <a:endParaRPr lang="en-US" sz="1300" dirty="0"/>
          </a:p>
        </p:txBody>
      </p:sp>
      <p:sp>
        <p:nvSpPr>
          <p:cNvPr id="13" name="Text 11"/>
          <p:cNvSpPr/>
          <p:nvPr/>
        </p:nvSpPr>
        <p:spPr>
          <a:xfrm>
            <a:off x="4892040" y="2331720"/>
            <a:ext cx="3931920" cy="320040"/>
          </a:xfrm>
          <a:prstGeom prst="rect">
            <a:avLst/>
          </a:prstGeom>
          <a:noFill/>
          <a:ln/>
        </p:spPr>
        <p:txBody>
          <a:bodyPr wrap="square" lIns="0" tIns="0" rIns="0" bIns="0" rtlCol="0" anchor="ctr"/>
          <a:lstStyle/>
          <a:p>
            <a:pPr marL="0" indent="0" algn="ctr">
              <a:buNone/>
            </a:pPr>
            <a:r>
              <a:rPr lang="en-US" sz="1000" i="1" dirty="0">
                <a:solidFill>
                  <a:srgbClr val="F8F4F1"/>
                </a:solidFill>
              </a:rPr>
              <a:t>🎯 Heading into downtown = more punctual</a:t>
            </a:r>
            <a:endParaRPr lang="en-US" sz="1000" dirty="0"/>
          </a:p>
        </p:txBody>
      </p:sp>
      <p:graphicFrame>
        <p:nvGraphicFramePr>
          <p:cNvPr id="14" name="Chart 0"/>
          <p:cNvGraphicFramePr/>
          <p:nvPr/>
        </p:nvGraphicFramePr>
        <p:xfrm>
          <a:off x="320040" y="2926080"/>
          <a:ext cx="8503920" cy="192024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2B2C"/>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C45C26"/>
          </a:solidFill>
          <a:ln w="12700">
            <a:solidFill>
              <a:srgbClr val="C45C26"/>
            </a:solidFill>
            <a:prstDash val="solid"/>
          </a:ln>
        </p:spPr>
        <p:txBody>
          <a:bodyPr/>
          <a:lstStyle/>
          <a:p>
            <a:endParaRPr lang="en-US" dirty="0"/>
          </a:p>
        </p:txBody>
      </p:sp>
      <p:pic>
        <p:nvPicPr>
          <p:cNvPr id="3" name="Image 0" descr="preencoded.png"/>
          <p:cNvPicPr>
            <a:picLocks noChangeAspect="1"/>
          </p:cNvPicPr>
          <p:nvPr/>
        </p:nvPicPr>
        <p:blipFill>
          <a:blip r:embed="rId3"/>
          <a:stretch>
            <a:fillRect/>
          </a:stretch>
        </p:blipFill>
        <p:spPr>
          <a:xfrm>
            <a:off x="365760" y="182880"/>
            <a:ext cx="502920" cy="502920"/>
          </a:xfrm>
          <a:prstGeom prst="rect">
            <a:avLst/>
          </a:prstGeom>
        </p:spPr>
      </p:pic>
      <p:sp>
        <p:nvSpPr>
          <p:cNvPr id="4" name="Text 1"/>
          <p:cNvSpPr/>
          <p:nvPr/>
        </p:nvSpPr>
        <p:spPr>
          <a:xfrm>
            <a:off x="1005840" y="228600"/>
            <a:ext cx="7772400" cy="502920"/>
          </a:xfrm>
          <a:prstGeom prst="rect">
            <a:avLst/>
          </a:prstGeom>
          <a:noFill/>
          <a:ln/>
        </p:spPr>
        <p:txBody>
          <a:bodyPr wrap="square" lIns="0" tIns="0" rIns="0" bIns="0" rtlCol="0" anchor="ctr"/>
          <a:lstStyle/>
          <a:p>
            <a:pPr marL="0" indent="0" algn="l">
              <a:buNone/>
            </a:pPr>
            <a:r>
              <a:rPr lang="en-US" sz="2400" b="1" dirty="0">
                <a:solidFill>
                  <a:srgbClr val="FFFFFF"/>
                </a:solidFill>
              </a:rPr>
              <a:t>Where Does Nashville Bus Service Struggle?</a:t>
            </a:r>
            <a:endParaRPr lang="en-US" sz="2400" dirty="0"/>
          </a:p>
        </p:txBody>
      </p:sp>
      <p:sp>
        <p:nvSpPr>
          <p:cNvPr id="5" name="Shape 2"/>
          <p:cNvSpPr/>
          <p:nvPr/>
        </p:nvSpPr>
        <p:spPr>
          <a:xfrm>
            <a:off x="662728" y="775121"/>
            <a:ext cx="5053786" cy="4185499"/>
          </a:xfrm>
          <a:prstGeom prst="rect">
            <a:avLst/>
          </a:prstGeom>
          <a:solidFill>
            <a:srgbClr val="1A3A3B"/>
          </a:solidFill>
          <a:ln w="25400">
            <a:solidFill>
              <a:srgbClr val="14A7AC"/>
            </a:solidFill>
            <a:prstDash val="solid"/>
          </a:ln>
          <a:effectLst>
            <a:outerShdw blurRad="101600" dist="38100" dir="8100000" algn="bl" rotWithShape="0">
              <a:srgbClr val="000000">
                <a:alpha val="12000"/>
              </a:srgbClr>
            </a:outerShdw>
          </a:effectLst>
        </p:spPr>
        <p:txBody>
          <a:bodyPr/>
          <a:lstStyle/>
          <a:p>
            <a:endParaRPr lang="en-US" dirty="0"/>
          </a:p>
        </p:txBody>
      </p:sp>
      <p:sp>
        <p:nvSpPr>
          <p:cNvPr id="8" name="Shape 5"/>
          <p:cNvSpPr/>
          <p:nvPr/>
        </p:nvSpPr>
        <p:spPr>
          <a:xfrm>
            <a:off x="6217920" y="914400"/>
            <a:ext cx="2606040" cy="3931920"/>
          </a:xfrm>
          <a:prstGeom prst="rect">
            <a:avLst/>
          </a:prstGeom>
          <a:solidFill>
            <a:srgbClr val="0D7377"/>
          </a:solidFill>
          <a:ln w="12700">
            <a:solidFill>
              <a:srgbClr val="0D7377"/>
            </a:solidFill>
            <a:prstDash val="solid"/>
          </a:ln>
          <a:effectLst>
            <a:outerShdw blurRad="101600" dist="38100" dir="8100000" algn="bl" rotWithShape="0">
              <a:srgbClr val="000000">
                <a:alpha val="12000"/>
              </a:srgbClr>
            </a:outerShdw>
          </a:effectLst>
        </p:spPr>
        <p:txBody>
          <a:bodyPr/>
          <a:lstStyle/>
          <a:p>
            <a:endParaRPr lang="en-US" dirty="0"/>
          </a:p>
        </p:txBody>
      </p:sp>
      <p:sp>
        <p:nvSpPr>
          <p:cNvPr id="9" name="Text 6"/>
          <p:cNvSpPr/>
          <p:nvPr/>
        </p:nvSpPr>
        <p:spPr>
          <a:xfrm>
            <a:off x="6217920" y="1005840"/>
            <a:ext cx="2606040" cy="411480"/>
          </a:xfrm>
          <a:prstGeom prst="rect">
            <a:avLst/>
          </a:prstGeom>
          <a:noFill/>
          <a:ln/>
        </p:spPr>
        <p:txBody>
          <a:bodyPr wrap="square" lIns="0" tIns="0" rIns="0" bIns="0" rtlCol="0" anchor="ctr"/>
          <a:lstStyle/>
          <a:p>
            <a:pPr marL="0" indent="0" algn="ctr">
              <a:buNone/>
            </a:pPr>
            <a:r>
              <a:rPr lang="en-US" sz="1400" b="1" dirty="0">
                <a:solidFill>
                  <a:srgbClr val="FFFFFF"/>
                </a:solidFill>
              </a:rPr>
              <a:t>Key Findings</a:t>
            </a:r>
            <a:endParaRPr lang="en-US" sz="1400" dirty="0"/>
          </a:p>
        </p:txBody>
      </p:sp>
      <p:sp>
        <p:nvSpPr>
          <p:cNvPr id="10" name="Text 7"/>
          <p:cNvSpPr/>
          <p:nvPr/>
        </p:nvSpPr>
        <p:spPr>
          <a:xfrm>
            <a:off x="6263640" y="1508760"/>
            <a:ext cx="2514600" cy="3108960"/>
          </a:xfrm>
          <a:prstGeom prst="rect">
            <a:avLst/>
          </a:prstGeom>
          <a:noFill/>
          <a:ln/>
        </p:spPr>
        <p:txBody>
          <a:bodyPr wrap="square" lIns="1270" tIns="1270" rIns="1270" bIns="1270" rtlCol="0" anchor="t"/>
          <a:lstStyle/>
          <a:p>
            <a:pPr marL="0" indent="0" algn="l">
              <a:buNone/>
            </a:pPr>
            <a:r>
              <a:rPr lang="en-US" sz="1100" b="1" dirty="0">
                <a:solidFill>
                  <a:srgbClr val="FFFFFF"/>
                </a:solidFill>
              </a:rPr>
              <a:t>🔴  Downtown core</a:t>
            </a:r>
            <a:endParaRPr lang="en-US" sz="1100" dirty="0"/>
          </a:p>
          <a:p>
            <a:pPr marL="0" indent="0" algn="l">
              <a:buNone/>
            </a:pPr>
            <a:r>
              <a:rPr lang="en-US" sz="1100" dirty="0">
                <a:solidFill>
                  <a:srgbClr val="FFFFFF"/>
                </a:solidFill>
              </a:rPr>
              <a:t>Worst late clusters
</a:t>
            </a:r>
            <a:endParaRPr lang="en-US" sz="1100" dirty="0"/>
          </a:p>
          <a:p>
            <a:pPr marL="0" indent="0" algn="l">
              <a:buNone/>
            </a:pPr>
            <a:r>
              <a:rPr lang="en-US" sz="1100" b="1" dirty="0">
                <a:solidFill>
                  <a:srgbClr val="FFFFFF"/>
                </a:solidFill>
              </a:rPr>
              <a:t>🔴  Murfreesboro Pike</a:t>
            </a:r>
            <a:endParaRPr lang="en-US" sz="1100" dirty="0"/>
          </a:p>
          <a:p>
            <a:pPr marL="0" indent="0" algn="l">
              <a:buNone/>
            </a:pPr>
            <a:r>
              <a:rPr lang="en-US" sz="1100" dirty="0">
                <a:solidFill>
                  <a:srgbClr val="FFFFFF"/>
                </a:solidFill>
              </a:rPr>
              <a:t>South corridor hotspot
</a:t>
            </a:r>
            <a:endParaRPr lang="en-US" sz="1100" dirty="0"/>
          </a:p>
          <a:p>
            <a:pPr marL="0" indent="0" algn="l">
              <a:buNone/>
            </a:pPr>
            <a:r>
              <a:rPr lang="en-US" sz="1100" b="1" dirty="0">
                <a:solidFill>
                  <a:srgbClr val="FFFFFF"/>
                </a:solidFill>
              </a:rPr>
              <a:t>🟡  Goodlettsville</a:t>
            </a:r>
            <a:endParaRPr lang="en-US" sz="1100" dirty="0"/>
          </a:p>
          <a:p>
            <a:pPr marL="0" indent="0" algn="l">
              <a:buNone/>
            </a:pPr>
            <a:r>
              <a:rPr lang="en-US" sz="1100" dirty="0">
                <a:solidFill>
                  <a:srgbClr val="FFFFFF"/>
                </a:solidFill>
              </a:rPr>
              <a:t>Surprising outlier
way up north
</a:t>
            </a:r>
            <a:endParaRPr lang="en-US" sz="1100" dirty="0"/>
          </a:p>
          <a:p>
            <a:pPr marL="0" indent="0" algn="l">
              <a:buNone/>
            </a:pPr>
            <a:r>
              <a:rPr lang="en-US" sz="1100" b="1" dirty="0">
                <a:solidFill>
                  <a:srgbClr val="FFFFFF"/>
                </a:solidFill>
              </a:rPr>
              <a:t>🟢  Route edges</a:t>
            </a:r>
            <a:endParaRPr lang="en-US" sz="1100" dirty="0"/>
          </a:p>
          <a:p>
            <a:pPr marL="0" indent="0" algn="l">
              <a:buNone/>
            </a:pPr>
            <a:r>
              <a:rPr lang="en-US" sz="1100" dirty="0">
                <a:solidFill>
                  <a:srgbClr val="FFFFFF"/>
                </a:solidFill>
              </a:rPr>
              <a:t>Better performance</a:t>
            </a:r>
            <a:endParaRPr lang="en-US" sz="1100" dirty="0"/>
          </a:p>
          <a:p>
            <a:pPr marL="0" indent="0" algn="l">
              <a:buNone/>
            </a:pPr>
            <a:r>
              <a:rPr lang="en-US" sz="1100" dirty="0">
                <a:solidFill>
                  <a:srgbClr val="FFFFFF"/>
                </a:solidFill>
              </a:rPr>
              <a:t>at outer stops</a:t>
            </a:r>
            <a:endParaRPr lang="en-US" sz="1100" dirty="0"/>
          </a:p>
        </p:txBody>
      </p:sp>
      <p:pic>
        <p:nvPicPr>
          <p:cNvPr id="12" name="Picture 11">
            <a:extLst>
              <a:ext uri="{FF2B5EF4-FFF2-40B4-BE49-F238E27FC236}">
                <a16:creationId xmlns:a16="http://schemas.microsoft.com/office/drawing/2014/main" id="{03435832-0CE6-1BE7-4687-11C5738CCA6E}"/>
              </a:ext>
            </a:extLst>
          </p:cNvPr>
          <p:cNvPicPr>
            <a:picLocks noChangeAspect="1"/>
          </p:cNvPicPr>
          <p:nvPr/>
        </p:nvPicPr>
        <p:blipFill>
          <a:blip r:embed="rId4"/>
          <a:srcRect l="23046" t="6737" r="18704" b="9973"/>
          <a:stretch>
            <a:fillRect/>
          </a:stretch>
        </p:blipFill>
        <p:spPr>
          <a:xfrm>
            <a:off x="708448" y="821294"/>
            <a:ext cx="4965616" cy="409360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4F1"/>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C45C26"/>
          </a:solidFill>
          <a:ln w="12700">
            <a:solidFill>
              <a:srgbClr val="C45C26"/>
            </a:solidFill>
            <a:prstDash val="solid"/>
          </a:ln>
        </p:spPr>
        <p:txBody>
          <a:bodyPr/>
          <a:lstStyle/>
          <a:p>
            <a:endParaRPr lang="en-US" dirty="0"/>
          </a:p>
        </p:txBody>
      </p:sp>
      <p:pic>
        <p:nvPicPr>
          <p:cNvPr id="3" name="Image 0" descr="preencoded.png"/>
          <p:cNvPicPr>
            <a:picLocks noChangeAspect="1"/>
          </p:cNvPicPr>
          <p:nvPr/>
        </p:nvPicPr>
        <p:blipFill>
          <a:blip r:embed="rId3"/>
          <a:stretch>
            <a:fillRect/>
          </a:stretch>
        </p:blipFill>
        <p:spPr>
          <a:xfrm>
            <a:off x="320040" y="164592"/>
            <a:ext cx="457200" cy="457200"/>
          </a:xfrm>
          <a:prstGeom prst="rect">
            <a:avLst/>
          </a:prstGeom>
        </p:spPr>
      </p:pic>
      <p:sp>
        <p:nvSpPr>
          <p:cNvPr id="4" name="Text 1"/>
          <p:cNvSpPr/>
          <p:nvPr/>
        </p:nvSpPr>
        <p:spPr>
          <a:xfrm>
            <a:off x="914400" y="201168"/>
            <a:ext cx="7863840" cy="502920"/>
          </a:xfrm>
          <a:prstGeom prst="rect">
            <a:avLst/>
          </a:prstGeom>
          <a:noFill/>
          <a:ln/>
        </p:spPr>
        <p:txBody>
          <a:bodyPr wrap="square" lIns="0" tIns="0" rIns="0" bIns="0" rtlCol="0" anchor="ctr"/>
          <a:lstStyle/>
          <a:p>
            <a:pPr marL="0" indent="0" algn="l">
              <a:buNone/>
            </a:pPr>
            <a:r>
              <a:rPr lang="en-US" sz="2800" b="1" dirty="0">
                <a:solidFill>
                  <a:srgbClr val="C45C26"/>
                </a:solidFill>
              </a:rPr>
              <a:t>Rush Hour: The Great Bus Villain</a:t>
            </a:r>
            <a:endParaRPr lang="en-US" sz="2800" dirty="0"/>
          </a:p>
        </p:txBody>
      </p:sp>
      <p:graphicFrame>
        <p:nvGraphicFramePr>
          <p:cNvPr id="5" name="Chart 0"/>
          <p:cNvGraphicFramePr/>
          <p:nvPr/>
        </p:nvGraphicFramePr>
        <p:xfrm>
          <a:off x="320040" y="868680"/>
          <a:ext cx="5486400" cy="27432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6" name="Chart 1"/>
          <p:cNvGraphicFramePr/>
          <p:nvPr>
            <p:extLst>
              <p:ext uri="{D42A27DB-BD31-4B8C-83A1-F6EECF244321}">
                <p14:modId xmlns:p14="http://schemas.microsoft.com/office/powerpoint/2010/main" val="2675608754"/>
              </p:ext>
            </p:extLst>
          </p:nvPr>
        </p:nvGraphicFramePr>
        <p:xfrm>
          <a:off x="5943600" y="868680"/>
          <a:ext cx="2880360" cy="2743200"/>
        </p:xfrm>
        <a:graphic>
          <a:graphicData uri="http://schemas.openxmlformats.org/drawingml/2006/chart">
            <c:chart xmlns:c="http://schemas.openxmlformats.org/drawingml/2006/chart" xmlns:r="http://schemas.openxmlformats.org/officeDocument/2006/relationships" r:id="rId5"/>
          </a:graphicData>
        </a:graphic>
      </p:graphicFrame>
      <p:sp>
        <p:nvSpPr>
          <p:cNvPr id="7" name="Shape 2"/>
          <p:cNvSpPr/>
          <p:nvPr/>
        </p:nvSpPr>
        <p:spPr>
          <a:xfrm>
            <a:off x="320040" y="3794760"/>
            <a:ext cx="4114800" cy="1097280"/>
          </a:xfrm>
          <a:prstGeom prst="rect">
            <a:avLst/>
          </a:prstGeom>
          <a:solidFill>
            <a:srgbClr val="6B1D2B"/>
          </a:solidFill>
          <a:ln w="12700">
            <a:solidFill>
              <a:srgbClr val="6B1D2B"/>
            </a:solidFill>
            <a:prstDash val="solid"/>
          </a:ln>
          <a:effectLst>
            <a:outerShdw blurRad="101600" dist="38100" dir="8100000" algn="bl" rotWithShape="0">
              <a:srgbClr val="000000">
                <a:alpha val="12000"/>
              </a:srgbClr>
            </a:outerShdw>
          </a:effectLst>
        </p:spPr>
        <p:txBody>
          <a:bodyPr/>
          <a:lstStyle/>
          <a:p>
            <a:endParaRPr lang="en-US" dirty="0"/>
          </a:p>
        </p:txBody>
      </p:sp>
      <p:sp>
        <p:nvSpPr>
          <p:cNvPr id="8" name="Text 3"/>
          <p:cNvSpPr/>
          <p:nvPr/>
        </p:nvSpPr>
        <p:spPr>
          <a:xfrm>
            <a:off x="411480" y="3840480"/>
            <a:ext cx="3931920" cy="1005840"/>
          </a:xfrm>
          <a:prstGeom prst="rect">
            <a:avLst/>
          </a:prstGeom>
          <a:noFill/>
          <a:ln/>
        </p:spPr>
        <p:txBody>
          <a:bodyPr wrap="square" lIns="1270" tIns="1270" rIns="1270" bIns="1270" rtlCol="0" anchor="ctr"/>
          <a:lstStyle/>
          <a:p>
            <a:pPr marL="0" indent="0" algn="l">
              <a:buNone/>
            </a:pPr>
            <a:r>
              <a:rPr lang="en-US" sz="1200" dirty="0">
                <a:solidFill>
                  <a:srgbClr val="FFFFFF"/>
                </a:solidFill>
              </a:rPr>
              <a:t>😩  4–5pm: ~28% of buses are late</a:t>
            </a:r>
            <a:endParaRPr lang="en-US" sz="1200" dirty="0"/>
          </a:p>
          <a:p>
            <a:pPr marL="0" indent="0" algn="l">
              <a:buNone/>
            </a:pPr>
            <a:r>
              <a:rPr lang="en-US" sz="1200" dirty="0">
                <a:solidFill>
                  <a:srgbClr val="FFFFFF"/>
                </a:solidFill>
              </a:rPr>
              <a:t>Afternoon rush is the enemy of schedules</a:t>
            </a:r>
            <a:endParaRPr lang="en-US" sz="1200" dirty="0"/>
          </a:p>
        </p:txBody>
      </p:sp>
      <p:sp>
        <p:nvSpPr>
          <p:cNvPr id="9" name="Shape 4"/>
          <p:cNvSpPr/>
          <p:nvPr/>
        </p:nvSpPr>
        <p:spPr>
          <a:xfrm>
            <a:off x="4663440" y="3794760"/>
            <a:ext cx="4160520" cy="1097280"/>
          </a:xfrm>
          <a:prstGeom prst="rect">
            <a:avLst/>
          </a:prstGeom>
          <a:solidFill>
            <a:srgbClr val="0D7377"/>
          </a:solidFill>
          <a:ln w="12700">
            <a:solidFill>
              <a:srgbClr val="0D7377"/>
            </a:solidFill>
            <a:prstDash val="solid"/>
          </a:ln>
          <a:effectLst>
            <a:outerShdw blurRad="101600" dist="38100" dir="8100000" algn="bl" rotWithShape="0">
              <a:srgbClr val="000000">
                <a:alpha val="12000"/>
              </a:srgbClr>
            </a:outerShdw>
          </a:effectLst>
        </p:spPr>
        <p:txBody>
          <a:bodyPr/>
          <a:lstStyle/>
          <a:p>
            <a:endParaRPr lang="en-US" dirty="0"/>
          </a:p>
        </p:txBody>
      </p:sp>
      <p:sp>
        <p:nvSpPr>
          <p:cNvPr id="10" name="Text 5"/>
          <p:cNvSpPr/>
          <p:nvPr/>
        </p:nvSpPr>
        <p:spPr>
          <a:xfrm>
            <a:off x="4754880" y="3840480"/>
            <a:ext cx="3977640" cy="1005840"/>
          </a:xfrm>
          <a:prstGeom prst="rect">
            <a:avLst/>
          </a:prstGeom>
          <a:noFill/>
          <a:ln/>
        </p:spPr>
        <p:txBody>
          <a:bodyPr wrap="square" lIns="1270" tIns="1270" rIns="1270" bIns="1270" rtlCol="0" anchor="ctr"/>
          <a:lstStyle/>
          <a:p>
            <a:pPr marL="0" indent="0" algn="l">
              <a:buNone/>
            </a:pPr>
            <a:r>
              <a:rPr lang="en-US" sz="1200" dirty="0">
                <a:solidFill>
                  <a:srgbClr val="FFFFFF"/>
                </a:solidFill>
              </a:rPr>
              <a:t>😌  Sunday is the GOAT: only 11.4% late</a:t>
            </a:r>
            <a:endParaRPr lang="en-US" sz="1200" dirty="0"/>
          </a:p>
          <a:p>
            <a:pPr marL="0" indent="0" algn="l">
              <a:buNone/>
            </a:pPr>
            <a:r>
              <a:rPr lang="en-US" sz="1200" dirty="0">
                <a:solidFill>
                  <a:srgbClr val="FFFFFF"/>
                </a:solidFill>
              </a:rPr>
              <a:t>Fewer people, fewer problems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4F1"/>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6B1D2B"/>
          </a:solidFill>
          <a:ln w="12700">
            <a:solidFill>
              <a:srgbClr val="6B1D2B"/>
            </a:solidFill>
            <a:prstDash val="solid"/>
          </a:ln>
        </p:spPr>
        <p:txBody>
          <a:bodyPr/>
          <a:lstStyle/>
          <a:p>
            <a:endParaRPr lang="en-US" dirty="0"/>
          </a:p>
        </p:txBody>
      </p:sp>
      <p:pic>
        <p:nvPicPr>
          <p:cNvPr id="3" name="Image 0" descr="preencoded.png"/>
          <p:cNvPicPr>
            <a:picLocks noChangeAspect="1"/>
          </p:cNvPicPr>
          <p:nvPr/>
        </p:nvPicPr>
        <p:blipFill>
          <a:blip r:embed="rId3"/>
          <a:stretch>
            <a:fillRect/>
          </a:stretch>
        </p:blipFill>
        <p:spPr>
          <a:xfrm>
            <a:off x="320040" y="164592"/>
            <a:ext cx="457200" cy="457200"/>
          </a:xfrm>
          <a:prstGeom prst="rect">
            <a:avLst/>
          </a:prstGeom>
        </p:spPr>
      </p:pic>
      <p:sp>
        <p:nvSpPr>
          <p:cNvPr id="4" name="Text 1"/>
          <p:cNvSpPr/>
          <p:nvPr/>
        </p:nvSpPr>
        <p:spPr>
          <a:xfrm>
            <a:off x="914400" y="201168"/>
            <a:ext cx="7863840" cy="502920"/>
          </a:xfrm>
          <a:prstGeom prst="rect">
            <a:avLst/>
          </a:prstGeom>
          <a:noFill/>
          <a:ln/>
        </p:spPr>
        <p:txBody>
          <a:bodyPr wrap="square" lIns="0" tIns="0" rIns="0" bIns="0" rtlCol="0" anchor="ctr"/>
          <a:lstStyle/>
          <a:p>
            <a:pPr marL="0" indent="0" algn="l">
              <a:buNone/>
            </a:pPr>
            <a:r>
              <a:rPr lang="en-US" sz="2800" b="1" dirty="0">
                <a:solidFill>
                  <a:srgbClr val="6B1D2B"/>
                </a:solidFill>
              </a:rPr>
              <a:t>The Driver Effect: It's Real, Y'all</a:t>
            </a:r>
            <a:endParaRPr lang="en-US" sz="2800" dirty="0"/>
          </a:p>
        </p:txBody>
      </p:sp>
      <p:graphicFrame>
        <p:nvGraphicFramePr>
          <p:cNvPr id="5" name="Chart 0"/>
          <p:cNvGraphicFramePr/>
          <p:nvPr/>
        </p:nvGraphicFramePr>
        <p:xfrm>
          <a:off x="320040" y="914400"/>
          <a:ext cx="5303520" cy="2834640"/>
        </p:xfrm>
        <a:graphic>
          <a:graphicData uri="http://schemas.openxmlformats.org/drawingml/2006/chart">
            <c:chart xmlns:c="http://schemas.openxmlformats.org/drawingml/2006/chart" xmlns:r="http://schemas.openxmlformats.org/officeDocument/2006/relationships" r:id="rId4"/>
          </a:graphicData>
        </a:graphic>
      </p:graphicFrame>
      <p:sp>
        <p:nvSpPr>
          <p:cNvPr id="6" name="Shape 2"/>
          <p:cNvSpPr/>
          <p:nvPr/>
        </p:nvSpPr>
        <p:spPr>
          <a:xfrm>
            <a:off x="5852160" y="914400"/>
            <a:ext cx="2971800" cy="1417320"/>
          </a:xfrm>
          <a:prstGeom prst="rect">
            <a:avLst/>
          </a:prstGeom>
          <a:solidFill>
            <a:srgbClr val="0D7377"/>
          </a:solidFill>
          <a:ln w="12700">
            <a:solidFill>
              <a:srgbClr val="0D7377"/>
            </a:solidFill>
            <a:prstDash val="solid"/>
          </a:ln>
          <a:effectLst>
            <a:outerShdw blurRad="101600" dist="38100" dir="8100000" algn="bl" rotWithShape="0">
              <a:srgbClr val="000000">
                <a:alpha val="12000"/>
              </a:srgbClr>
            </a:outerShdw>
          </a:effectLst>
        </p:spPr>
        <p:txBody>
          <a:bodyPr/>
          <a:lstStyle/>
          <a:p>
            <a:endParaRPr lang="en-US" dirty="0"/>
          </a:p>
        </p:txBody>
      </p:sp>
      <p:pic>
        <p:nvPicPr>
          <p:cNvPr id="7" name="Image 1" descr="preencoded.png"/>
          <p:cNvPicPr>
            <a:picLocks noChangeAspect="1"/>
          </p:cNvPicPr>
          <p:nvPr/>
        </p:nvPicPr>
        <p:blipFill>
          <a:blip r:embed="rId3"/>
          <a:stretch>
            <a:fillRect/>
          </a:stretch>
        </p:blipFill>
        <p:spPr>
          <a:xfrm>
            <a:off x="5989320" y="1051560"/>
            <a:ext cx="411480" cy="411480"/>
          </a:xfrm>
          <a:prstGeom prst="rect">
            <a:avLst/>
          </a:prstGeom>
        </p:spPr>
      </p:pic>
      <p:sp>
        <p:nvSpPr>
          <p:cNvPr id="8" name="Text 3"/>
          <p:cNvSpPr/>
          <p:nvPr/>
        </p:nvSpPr>
        <p:spPr>
          <a:xfrm>
            <a:off x="5852160" y="1371600"/>
            <a:ext cx="2971800" cy="685800"/>
          </a:xfrm>
          <a:prstGeom prst="rect">
            <a:avLst/>
          </a:prstGeom>
          <a:noFill/>
          <a:ln/>
        </p:spPr>
        <p:txBody>
          <a:bodyPr wrap="square" lIns="0" tIns="0" rIns="0" bIns="0" rtlCol="0" anchor="ctr"/>
          <a:lstStyle/>
          <a:p>
            <a:pPr marL="0" indent="0" algn="ctr">
              <a:buNone/>
            </a:pPr>
            <a:r>
              <a:rPr lang="en-US" sz="3600" b="1" dirty="0">
                <a:solidFill>
                  <a:srgbClr val="FFFFFF"/>
                </a:solidFill>
              </a:rPr>
              <a:t>219</a:t>
            </a:r>
            <a:endParaRPr lang="en-US" sz="3600" dirty="0"/>
          </a:p>
        </p:txBody>
      </p:sp>
      <p:sp>
        <p:nvSpPr>
          <p:cNvPr id="9" name="Text 4"/>
          <p:cNvSpPr/>
          <p:nvPr/>
        </p:nvSpPr>
        <p:spPr>
          <a:xfrm>
            <a:off x="5852160" y="2011680"/>
            <a:ext cx="2971800" cy="411480"/>
          </a:xfrm>
          <a:prstGeom prst="rect">
            <a:avLst/>
          </a:prstGeom>
          <a:noFill/>
          <a:ln/>
        </p:spPr>
        <p:txBody>
          <a:bodyPr wrap="square" lIns="0" tIns="0" rIns="0" bIns="0" rtlCol="0" anchor="ctr"/>
          <a:lstStyle/>
          <a:p>
            <a:pPr marL="0" indent="0" algn="ctr">
              <a:buNone/>
            </a:pPr>
            <a:r>
              <a:rPr lang="en-US" sz="1100" dirty="0">
                <a:solidFill>
                  <a:srgbClr val="FFFFFF"/>
                </a:solidFill>
              </a:rPr>
              <a:t>Drivers Analyzed</a:t>
            </a:r>
            <a:endParaRPr lang="en-US" sz="1100" dirty="0"/>
          </a:p>
        </p:txBody>
      </p:sp>
      <p:sp>
        <p:nvSpPr>
          <p:cNvPr id="10" name="Shape 5"/>
          <p:cNvSpPr/>
          <p:nvPr/>
        </p:nvSpPr>
        <p:spPr>
          <a:xfrm>
            <a:off x="5852160" y="2514600"/>
            <a:ext cx="2971800" cy="1417320"/>
          </a:xfrm>
          <a:prstGeom prst="rect">
            <a:avLst/>
          </a:prstGeom>
          <a:solidFill>
            <a:srgbClr val="C45C26"/>
          </a:solidFill>
          <a:ln w="12700">
            <a:solidFill>
              <a:srgbClr val="C45C26"/>
            </a:solidFill>
            <a:prstDash val="solid"/>
          </a:ln>
          <a:effectLst>
            <a:outerShdw blurRad="101600" dist="38100" dir="8100000" algn="bl" rotWithShape="0">
              <a:srgbClr val="000000">
                <a:alpha val="12000"/>
              </a:srgbClr>
            </a:outerShdw>
          </a:effectLst>
        </p:spPr>
        <p:txBody>
          <a:bodyPr/>
          <a:lstStyle/>
          <a:p>
            <a:endParaRPr lang="en-US" dirty="0"/>
          </a:p>
        </p:txBody>
      </p:sp>
      <p:pic>
        <p:nvPicPr>
          <p:cNvPr id="11" name="Image 2" descr="preencoded.png"/>
          <p:cNvPicPr>
            <a:picLocks noChangeAspect="1"/>
          </p:cNvPicPr>
          <p:nvPr/>
        </p:nvPicPr>
        <p:blipFill>
          <a:blip r:embed="rId5"/>
          <a:stretch>
            <a:fillRect/>
          </a:stretch>
        </p:blipFill>
        <p:spPr>
          <a:xfrm>
            <a:off x="5989320" y="2651760"/>
            <a:ext cx="411480" cy="411480"/>
          </a:xfrm>
          <a:prstGeom prst="rect">
            <a:avLst/>
          </a:prstGeom>
        </p:spPr>
      </p:pic>
      <p:sp>
        <p:nvSpPr>
          <p:cNvPr id="12" name="Text 6"/>
          <p:cNvSpPr/>
          <p:nvPr/>
        </p:nvSpPr>
        <p:spPr>
          <a:xfrm>
            <a:off x="5852160" y="2971800"/>
            <a:ext cx="2971800" cy="685800"/>
          </a:xfrm>
          <a:prstGeom prst="rect">
            <a:avLst/>
          </a:prstGeom>
          <a:noFill/>
          <a:ln/>
        </p:spPr>
        <p:txBody>
          <a:bodyPr wrap="square" lIns="0" tIns="0" rIns="0" bIns="0" rtlCol="0" anchor="ctr"/>
          <a:lstStyle/>
          <a:p>
            <a:pPr marL="0" indent="0" algn="ctr">
              <a:buNone/>
            </a:pPr>
            <a:r>
              <a:rPr lang="en-US" sz="3600" b="1" dirty="0">
                <a:solidFill>
                  <a:srgbClr val="FFFFFF"/>
                </a:solidFill>
              </a:rPr>
              <a:t>18%</a:t>
            </a:r>
            <a:endParaRPr lang="en-US" sz="3600" dirty="0"/>
          </a:p>
        </p:txBody>
      </p:sp>
      <p:sp>
        <p:nvSpPr>
          <p:cNvPr id="13" name="Text 7"/>
          <p:cNvSpPr/>
          <p:nvPr/>
        </p:nvSpPr>
        <p:spPr>
          <a:xfrm>
            <a:off x="5852160" y="3611880"/>
            <a:ext cx="2971800" cy="411480"/>
          </a:xfrm>
          <a:prstGeom prst="rect">
            <a:avLst/>
          </a:prstGeom>
          <a:noFill/>
          <a:ln/>
        </p:spPr>
        <p:txBody>
          <a:bodyPr wrap="square" lIns="0" tIns="0" rIns="0" bIns="0" rtlCol="0" anchor="ctr"/>
          <a:lstStyle/>
          <a:p>
            <a:pPr marL="0" indent="0" algn="ctr">
              <a:buNone/>
            </a:pPr>
            <a:r>
              <a:rPr lang="en-US" sz="1100" dirty="0">
                <a:solidFill>
                  <a:srgbClr val="FFFFFF"/>
                </a:solidFill>
              </a:rPr>
              <a:t>Average Late Rate</a:t>
            </a:r>
            <a:endParaRPr lang="en-US" sz="1100" dirty="0"/>
          </a:p>
        </p:txBody>
      </p:sp>
      <p:sp>
        <p:nvSpPr>
          <p:cNvPr id="14" name="Shape 8"/>
          <p:cNvSpPr/>
          <p:nvPr/>
        </p:nvSpPr>
        <p:spPr>
          <a:xfrm>
            <a:off x="320040" y="3931920"/>
            <a:ext cx="4114800" cy="960120"/>
          </a:xfrm>
          <a:prstGeom prst="rect">
            <a:avLst/>
          </a:prstGeom>
          <a:solidFill>
            <a:srgbClr val="0D7377"/>
          </a:solidFill>
          <a:ln w="12700">
            <a:solidFill>
              <a:srgbClr val="0D7377"/>
            </a:solidFill>
            <a:prstDash val="solid"/>
          </a:ln>
          <a:effectLst>
            <a:outerShdw blurRad="101600" dist="38100" dir="8100000" algn="bl" rotWithShape="0">
              <a:srgbClr val="000000">
                <a:alpha val="12000"/>
              </a:srgbClr>
            </a:outerShdw>
          </a:effectLst>
        </p:spPr>
        <p:txBody>
          <a:bodyPr/>
          <a:lstStyle/>
          <a:p>
            <a:endParaRPr lang="en-US" dirty="0"/>
          </a:p>
        </p:txBody>
      </p:sp>
      <p:sp>
        <p:nvSpPr>
          <p:cNvPr id="15" name="Text 9"/>
          <p:cNvSpPr/>
          <p:nvPr/>
        </p:nvSpPr>
        <p:spPr>
          <a:xfrm>
            <a:off x="411480" y="3977640"/>
            <a:ext cx="3931920" cy="868680"/>
          </a:xfrm>
          <a:prstGeom prst="rect">
            <a:avLst/>
          </a:prstGeom>
          <a:noFill/>
          <a:ln/>
        </p:spPr>
        <p:txBody>
          <a:bodyPr wrap="square" lIns="1270" tIns="1270" rIns="1270" bIns="1270" rtlCol="0" anchor="ctr"/>
          <a:lstStyle/>
          <a:p>
            <a:pPr marL="0" indent="0" algn="l">
              <a:buNone/>
            </a:pPr>
            <a:r>
              <a:rPr lang="en-US" sz="1200" dirty="0">
                <a:solidFill>
                  <a:srgbClr val="FFFFFF"/>
                </a:solidFill>
              </a:rPr>
              <a:t>🏆  Best driver: only 0.6% late</a:t>
            </a:r>
            <a:endParaRPr lang="en-US" sz="1200" dirty="0"/>
          </a:p>
          <a:p>
            <a:pPr marL="0" indent="0" algn="l">
              <a:buNone/>
            </a:pPr>
            <a:r>
              <a:rPr lang="en-US" sz="1200" dirty="0">
                <a:solidFill>
                  <a:srgbClr val="FFFFFF"/>
                </a:solidFill>
              </a:rPr>
              <a:t>Somebody's getting a gold star sticker</a:t>
            </a:r>
            <a:endParaRPr lang="en-US" sz="1200" dirty="0"/>
          </a:p>
        </p:txBody>
      </p:sp>
      <p:sp>
        <p:nvSpPr>
          <p:cNvPr id="16" name="Shape 10"/>
          <p:cNvSpPr/>
          <p:nvPr/>
        </p:nvSpPr>
        <p:spPr>
          <a:xfrm>
            <a:off x="4709160" y="3931920"/>
            <a:ext cx="4114800" cy="960120"/>
          </a:xfrm>
          <a:prstGeom prst="rect">
            <a:avLst/>
          </a:prstGeom>
          <a:solidFill>
            <a:srgbClr val="6B1D2B"/>
          </a:solidFill>
          <a:ln w="12700">
            <a:solidFill>
              <a:srgbClr val="6B1D2B"/>
            </a:solidFill>
            <a:prstDash val="solid"/>
          </a:ln>
          <a:effectLst>
            <a:outerShdw blurRad="101600" dist="38100" dir="8100000" algn="bl" rotWithShape="0">
              <a:srgbClr val="000000">
                <a:alpha val="12000"/>
              </a:srgbClr>
            </a:outerShdw>
          </a:effectLst>
        </p:spPr>
        <p:txBody>
          <a:bodyPr/>
          <a:lstStyle/>
          <a:p>
            <a:endParaRPr lang="en-US" dirty="0"/>
          </a:p>
        </p:txBody>
      </p:sp>
      <p:sp>
        <p:nvSpPr>
          <p:cNvPr id="17" name="Text 11"/>
          <p:cNvSpPr/>
          <p:nvPr/>
        </p:nvSpPr>
        <p:spPr>
          <a:xfrm>
            <a:off x="4800600" y="3977640"/>
            <a:ext cx="3931920" cy="868680"/>
          </a:xfrm>
          <a:prstGeom prst="rect">
            <a:avLst/>
          </a:prstGeom>
          <a:noFill/>
          <a:ln/>
        </p:spPr>
        <p:txBody>
          <a:bodyPr wrap="square" lIns="1270" tIns="1270" rIns="1270" bIns="1270" rtlCol="0" anchor="ctr"/>
          <a:lstStyle/>
          <a:p>
            <a:pPr marL="0" indent="0" algn="l">
              <a:buNone/>
            </a:pPr>
            <a:r>
              <a:rPr lang="en-US" sz="1200" dirty="0">
                <a:solidFill>
                  <a:srgbClr val="FFFFFF"/>
                </a:solidFill>
              </a:rPr>
              <a:t>😬  Worst driver: 54.4% late</a:t>
            </a:r>
            <a:endParaRPr lang="en-US" sz="1200" dirty="0"/>
          </a:p>
          <a:p>
            <a:pPr marL="0" indent="0" algn="l">
              <a:buNone/>
            </a:pPr>
            <a:r>
              <a:rPr lang="en-US" sz="1200" dirty="0">
                <a:solidFill>
                  <a:srgbClr val="FFFFFF"/>
                </a:solidFill>
              </a:rPr>
              <a:t>Half the time. Every time. Bless their heart.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4F1"/>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D7377"/>
          </a:solidFill>
          <a:ln w="12700">
            <a:solidFill>
              <a:srgbClr val="0D7377"/>
            </a:solidFill>
            <a:prstDash val="solid"/>
          </a:ln>
        </p:spPr>
        <p:txBody>
          <a:bodyPr/>
          <a:lstStyle/>
          <a:p>
            <a:endParaRPr lang="en-US" dirty="0"/>
          </a:p>
        </p:txBody>
      </p:sp>
      <p:sp>
        <p:nvSpPr>
          <p:cNvPr id="4" name="Text 1"/>
          <p:cNvSpPr/>
          <p:nvPr/>
        </p:nvSpPr>
        <p:spPr>
          <a:xfrm>
            <a:off x="914400" y="201168"/>
            <a:ext cx="7863840" cy="502920"/>
          </a:xfrm>
          <a:prstGeom prst="rect">
            <a:avLst/>
          </a:prstGeom>
          <a:noFill/>
          <a:ln/>
        </p:spPr>
        <p:txBody>
          <a:bodyPr wrap="square" lIns="0" tIns="0" rIns="0" bIns="0" rtlCol="0" anchor="ctr"/>
          <a:lstStyle/>
          <a:p>
            <a:pPr marL="0" indent="0" algn="l">
              <a:buNone/>
            </a:pPr>
            <a:r>
              <a:rPr lang="en-US" sz="2800" b="1" dirty="0">
                <a:solidFill>
                  <a:srgbClr val="0D7377"/>
                </a:solidFill>
              </a:rPr>
              <a:t>Headway: The Bunching Problem</a:t>
            </a:r>
            <a:endParaRPr lang="en-US" sz="2800" dirty="0"/>
          </a:p>
        </p:txBody>
      </p:sp>
      <p:sp>
        <p:nvSpPr>
          <p:cNvPr id="5" name="Text 2"/>
          <p:cNvSpPr/>
          <p:nvPr/>
        </p:nvSpPr>
        <p:spPr>
          <a:xfrm>
            <a:off x="630382" y="868680"/>
            <a:ext cx="8193578" cy="731520"/>
          </a:xfrm>
          <a:prstGeom prst="rect">
            <a:avLst/>
          </a:prstGeom>
          <a:noFill/>
          <a:ln/>
        </p:spPr>
        <p:txBody>
          <a:bodyPr wrap="square" lIns="0" tIns="0" rIns="0" bIns="0" numCol="1" rtlCol="0" anchor="ctr"/>
          <a:lstStyle/>
          <a:p>
            <a:pPr marL="171450" indent="-171450">
              <a:buFont typeface="Wingdings" panose="05000000000000000000" pitchFamily="2" charset="2"/>
              <a:buChar char="v"/>
            </a:pPr>
            <a:r>
              <a:rPr lang="en-US" sz="1200" dirty="0">
                <a:solidFill>
                  <a:srgbClr val="4A4A4A"/>
                </a:solidFill>
              </a:rPr>
              <a:t>Headway = time between buses at the same stop. 	</a:t>
            </a:r>
          </a:p>
          <a:p>
            <a:pPr marL="171450" indent="-171450">
              <a:buFont typeface="Wingdings" panose="05000000000000000000" pitchFamily="2" charset="2"/>
              <a:buChar char="v"/>
            </a:pPr>
            <a:r>
              <a:rPr lang="en-US" sz="1200" dirty="0">
                <a:solidFill>
                  <a:srgbClr val="4A4A4A"/>
                </a:solidFill>
              </a:rPr>
              <a:t>Bunching = buses clump together. </a:t>
            </a:r>
          </a:p>
          <a:p>
            <a:pPr marL="171450" indent="-171450" algn="l">
              <a:buFont typeface="Wingdings" panose="05000000000000000000" pitchFamily="2" charset="2"/>
              <a:buChar char="v"/>
            </a:pPr>
            <a:r>
              <a:rPr lang="en-US" sz="1200" dirty="0">
                <a:solidFill>
                  <a:srgbClr val="4A4A4A"/>
                </a:solidFill>
              </a:rPr>
              <a:t>Gapping = huge gaps between buses.		</a:t>
            </a:r>
          </a:p>
          <a:p>
            <a:pPr marL="171450" indent="-171450" algn="l">
              <a:buFont typeface="Wingdings" panose="05000000000000000000" pitchFamily="2" charset="2"/>
              <a:buChar char="v"/>
            </a:pPr>
            <a:r>
              <a:rPr lang="en-US" sz="1200" dirty="0">
                <a:solidFill>
                  <a:srgbClr val="4A4A4A"/>
                </a:solidFill>
              </a:rPr>
              <a:t>Acceptable range: 50%–150% of the scheduled headway.</a:t>
            </a:r>
            <a:endParaRPr lang="en-US" sz="1200" dirty="0"/>
          </a:p>
        </p:txBody>
      </p:sp>
      <p:graphicFrame>
        <p:nvGraphicFramePr>
          <p:cNvPr id="6" name="Chart 0"/>
          <p:cNvGraphicFramePr/>
          <p:nvPr>
            <p:extLst>
              <p:ext uri="{D42A27DB-BD31-4B8C-83A1-F6EECF244321}">
                <p14:modId xmlns:p14="http://schemas.microsoft.com/office/powerpoint/2010/main" val="4109848063"/>
              </p:ext>
            </p:extLst>
          </p:nvPr>
        </p:nvGraphicFramePr>
        <p:xfrm>
          <a:off x="320040" y="1691640"/>
          <a:ext cx="3840480" cy="3128554"/>
        </p:xfrm>
        <a:graphic>
          <a:graphicData uri="http://schemas.openxmlformats.org/drawingml/2006/chart">
            <c:chart xmlns:c="http://schemas.openxmlformats.org/drawingml/2006/chart" xmlns:r="http://schemas.openxmlformats.org/officeDocument/2006/relationships" r:id="rId3"/>
          </a:graphicData>
        </a:graphic>
      </p:graphicFrame>
      <p:pic>
        <p:nvPicPr>
          <p:cNvPr id="9" name="Picture 8">
            <a:extLst>
              <a:ext uri="{FF2B5EF4-FFF2-40B4-BE49-F238E27FC236}">
                <a16:creationId xmlns:a16="http://schemas.microsoft.com/office/drawing/2014/main" id="{12CF11F7-6AE7-00D5-17D8-1C008F868148}"/>
              </a:ext>
            </a:extLst>
          </p:cNvPr>
          <p:cNvPicPr>
            <a:picLocks noChangeAspect="1"/>
          </p:cNvPicPr>
          <p:nvPr/>
        </p:nvPicPr>
        <p:blipFill>
          <a:blip r:embed="rId4"/>
          <a:stretch>
            <a:fillRect/>
          </a:stretch>
        </p:blipFill>
        <p:spPr>
          <a:xfrm>
            <a:off x="4572000" y="1691639"/>
            <a:ext cx="4171950" cy="3128555"/>
          </a:xfrm>
          <a:prstGeom prst="rect">
            <a:avLst/>
          </a:prstGeom>
        </p:spPr>
      </p:pic>
      <p:pic>
        <p:nvPicPr>
          <p:cNvPr id="11" name="Picture 10">
            <a:extLst>
              <a:ext uri="{FF2B5EF4-FFF2-40B4-BE49-F238E27FC236}">
                <a16:creationId xmlns:a16="http://schemas.microsoft.com/office/drawing/2014/main" id="{347B3451-1694-B570-1F7D-9ABBA40475BF}"/>
              </a:ext>
            </a:extLst>
          </p:cNvPr>
          <p:cNvPicPr>
            <a:picLocks noChangeAspect="1"/>
          </p:cNvPicPr>
          <p:nvPr/>
        </p:nvPicPr>
        <p:blipFill>
          <a:blip r:embed="rId5"/>
          <a:stretch>
            <a:fillRect/>
          </a:stretch>
        </p:blipFill>
        <p:spPr>
          <a:xfrm>
            <a:off x="6464980" y="40628"/>
            <a:ext cx="1605292" cy="1605292"/>
          </a:xfrm>
          <a:prstGeom prst="rect">
            <a:avLst/>
          </a:prstGeom>
          <a:noFill/>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4F1"/>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C45C26"/>
          </a:solidFill>
          <a:ln w="12700">
            <a:solidFill>
              <a:srgbClr val="C45C26"/>
            </a:solidFill>
            <a:prstDash val="solid"/>
          </a:ln>
        </p:spPr>
        <p:txBody>
          <a:bodyPr/>
          <a:lstStyle/>
          <a:p>
            <a:endParaRPr lang="en-US" dirty="0"/>
          </a:p>
        </p:txBody>
      </p:sp>
      <p:sp>
        <p:nvSpPr>
          <p:cNvPr id="3" name="Text 1"/>
          <p:cNvSpPr/>
          <p:nvPr/>
        </p:nvSpPr>
        <p:spPr>
          <a:xfrm>
            <a:off x="365760" y="201168"/>
            <a:ext cx="8412480" cy="548640"/>
          </a:xfrm>
          <a:prstGeom prst="rect">
            <a:avLst/>
          </a:prstGeom>
          <a:noFill/>
          <a:ln/>
        </p:spPr>
        <p:txBody>
          <a:bodyPr wrap="square" lIns="0" tIns="0" rIns="0" bIns="0" rtlCol="0" anchor="ctr"/>
          <a:lstStyle/>
          <a:p>
            <a:pPr marL="0" indent="0" algn="l">
              <a:buNone/>
            </a:pPr>
            <a:r>
              <a:rPr lang="en-US" sz="2400" b="1" dirty="0">
                <a:solidFill>
                  <a:srgbClr val="C45C26"/>
                </a:solidFill>
              </a:rPr>
              <a:t>The Domino Effect: First Stop → Everything Else</a:t>
            </a:r>
            <a:endParaRPr lang="en-US" sz="2400" dirty="0"/>
          </a:p>
        </p:txBody>
      </p:sp>
      <p:graphicFrame>
        <p:nvGraphicFramePr>
          <p:cNvPr id="4" name="Chart 0"/>
          <p:cNvGraphicFramePr/>
          <p:nvPr/>
        </p:nvGraphicFramePr>
        <p:xfrm>
          <a:off x="320040" y="914400"/>
          <a:ext cx="4206240" cy="246888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1"/>
          <p:cNvGraphicFramePr/>
          <p:nvPr/>
        </p:nvGraphicFramePr>
        <p:xfrm>
          <a:off x="4709160" y="914400"/>
          <a:ext cx="4114800" cy="2468880"/>
        </p:xfrm>
        <a:graphic>
          <a:graphicData uri="http://schemas.openxmlformats.org/drawingml/2006/chart">
            <c:chart xmlns:c="http://schemas.openxmlformats.org/drawingml/2006/chart" xmlns:r="http://schemas.openxmlformats.org/officeDocument/2006/relationships" r:id="rId4"/>
          </a:graphicData>
        </a:graphic>
      </p:graphicFrame>
      <p:sp>
        <p:nvSpPr>
          <p:cNvPr id="6" name="Shape 2"/>
          <p:cNvSpPr/>
          <p:nvPr/>
        </p:nvSpPr>
        <p:spPr>
          <a:xfrm>
            <a:off x="320040" y="3566160"/>
            <a:ext cx="4206240" cy="1325880"/>
          </a:xfrm>
          <a:prstGeom prst="rect">
            <a:avLst/>
          </a:prstGeom>
          <a:solidFill>
            <a:srgbClr val="6B1D2B"/>
          </a:solidFill>
          <a:ln w="12700">
            <a:solidFill>
              <a:srgbClr val="6B1D2B"/>
            </a:solidFill>
            <a:prstDash val="solid"/>
          </a:ln>
          <a:effectLst>
            <a:outerShdw blurRad="101600" dist="38100" dir="8100000" algn="bl" rotWithShape="0">
              <a:srgbClr val="000000">
                <a:alpha val="12000"/>
              </a:srgbClr>
            </a:outerShdw>
          </a:effectLst>
        </p:spPr>
        <p:txBody>
          <a:bodyPr/>
          <a:lstStyle/>
          <a:p>
            <a:endParaRPr lang="en-US" dirty="0"/>
          </a:p>
        </p:txBody>
      </p:sp>
      <p:sp>
        <p:nvSpPr>
          <p:cNvPr id="7" name="Text 3"/>
          <p:cNvSpPr/>
          <p:nvPr/>
        </p:nvSpPr>
        <p:spPr>
          <a:xfrm>
            <a:off x="411480" y="3611880"/>
            <a:ext cx="4023360" cy="1234440"/>
          </a:xfrm>
          <a:prstGeom prst="rect">
            <a:avLst/>
          </a:prstGeom>
          <a:noFill/>
          <a:ln/>
        </p:spPr>
        <p:txBody>
          <a:bodyPr wrap="square" lIns="1270" tIns="1270" rIns="1270" bIns="1270" rtlCol="0" anchor="ctr"/>
          <a:lstStyle/>
          <a:p>
            <a:pPr marL="0" indent="0" algn="l">
              <a:buNone/>
            </a:pPr>
            <a:r>
              <a:rPr lang="en-US" sz="1100" dirty="0">
                <a:solidFill>
                  <a:srgbClr val="FFFFFF"/>
                </a:solidFill>
              </a:rPr>
              <a:t>🚨  Start 6+ minutes late?</a:t>
            </a:r>
            <a:endParaRPr lang="en-US" sz="1100" dirty="0"/>
          </a:p>
          <a:p>
            <a:pPr marL="0" indent="0" algn="l">
              <a:buNone/>
            </a:pPr>
            <a:r>
              <a:rPr lang="en-US" sz="1100" dirty="0">
                <a:solidFill>
                  <a:srgbClr val="FFFFFF"/>
                </a:solidFill>
              </a:rPr>
              <a:t>You'll probably stay late.</a:t>
            </a:r>
            <a:endParaRPr lang="en-US" sz="1100" dirty="0"/>
          </a:p>
          <a:p>
            <a:pPr marL="0" indent="0" algn="l">
              <a:buNone/>
            </a:pPr>
            <a:r>
              <a:rPr lang="en-US" sz="1100" dirty="0">
                <a:solidFill>
                  <a:srgbClr val="FFFFFF"/>
                </a:solidFill>
              </a:rPr>
              <a:t>Buses that start very late average -5.9 min downstream — nearly at the threshold.</a:t>
            </a:r>
            <a:endParaRPr lang="en-US" sz="1100" dirty="0"/>
          </a:p>
        </p:txBody>
      </p:sp>
      <p:sp>
        <p:nvSpPr>
          <p:cNvPr id="8" name="Shape 4"/>
          <p:cNvSpPr/>
          <p:nvPr/>
        </p:nvSpPr>
        <p:spPr>
          <a:xfrm>
            <a:off x="4709160" y="3566160"/>
            <a:ext cx="4114800" cy="1325880"/>
          </a:xfrm>
          <a:prstGeom prst="rect">
            <a:avLst/>
          </a:prstGeom>
          <a:solidFill>
            <a:srgbClr val="0D7377"/>
          </a:solidFill>
          <a:ln w="12700">
            <a:solidFill>
              <a:srgbClr val="0D7377"/>
            </a:solidFill>
            <a:prstDash val="solid"/>
          </a:ln>
          <a:effectLst>
            <a:outerShdw blurRad="101600" dist="38100" dir="8100000" algn="bl" rotWithShape="0">
              <a:srgbClr val="000000">
                <a:alpha val="12000"/>
              </a:srgbClr>
            </a:outerShdw>
          </a:effectLst>
        </p:spPr>
        <p:txBody>
          <a:bodyPr/>
          <a:lstStyle/>
          <a:p>
            <a:endParaRPr lang="en-US" dirty="0"/>
          </a:p>
        </p:txBody>
      </p:sp>
      <p:sp>
        <p:nvSpPr>
          <p:cNvPr id="9" name="Text 5"/>
          <p:cNvSpPr/>
          <p:nvPr/>
        </p:nvSpPr>
        <p:spPr>
          <a:xfrm>
            <a:off x="4800600" y="3611880"/>
            <a:ext cx="3931920" cy="1234440"/>
          </a:xfrm>
          <a:prstGeom prst="rect">
            <a:avLst/>
          </a:prstGeom>
          <a:noFill/>
          <a:ln/>
        </p:spPr>
        <p:txBody>
          <a:bodyPr wrap="square" lIns="1270" tIns="1270" rIns="1270" bIns="1270" rtlCol="0" anchor="ctr"/>
          <a:lstStyle/>
          <a:p>
            <a:pPr marL="0" indent="0" algn="l">
              <a:buNone/>
            </a:pPr>
            <a:r>
              <a:rPr lang="en-US" sz="1100" dirty="0">
                <a:solidFill>
                  <a:srgbClr val="FFFFFF"/>
                </a:solidFill>
              </a:rPr>
              <a:t>⏱️  Drivers who take their full layover time</a:t>
            </a:r>
            <a:endParaRPr lang="en-US" sz="1100" dirty="0"/>
          </a:p>
          <a:p>
            <a:pPr marL="0" indent="0" algn="l">
              <a:buNone/>
            </a:pPr>
            <a:r>
              <a:rPr lang="en-US" sz="1100" dirty="0">
                <a:solidFill>
                  <a:srgbClr val="FFFFFF"/>
                </a:solidFill>
              </a:rPr>
              <a:t>produce more stable headways downstream.</a:t>
            </a:r>
            <a:endParaRPr lang="en-US" sz="1100" dirty="0"/>
          </a:p>
          <a:p>
            <a:pPr marL="0" indent="0" algn="l">
              <a:buNone/>
            </a:pPr>
            <a:r>
              <a:rPr lang="en-US" sz="1100" dirty="0">
                <a:solidFill>
                  <a:srgbClr val="FFFFFF"/>
                </a:solidFill>
              </a:rPr>
              <a:t>The schedule isn't magic — drivers using their buffer time is.</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2B2C"/>
        </a:solidFill>
        <a:effectLst/>
      </p:bgPr>
    </p:bg>
    <p:spTree>
      <p:nvGrpSpPr>
        <p:cNvPr id="1" name=""/>
        <p:cNvGrpSpPr/>
        <p:nvPr/>
      </p:nvGrpSpPr>
      <p:grpSpPr>
        <a:xfrm>
          <a:off x="0" y="0"/>
          <a:ext cx="0" cy="0"/>
          <a:chOff x="0" y="0"/>
          <a:chExt cx="0" cy="0"/>
        </a:xfrm>
      </p:grpSpPr>
      <p:sp>
        <p:nvSpPr>
          <p:cNvPr id="2" name="Shape 0"/>
          <p:cNvSpPr/>
          <p:nvPr/>
        </p:nvSpPr>
        <p:spPr>
          <a:xfrm>
            <a:off x="0" y="0"/>
            <a:ext cx="3840480" cy="5143500"/>
          </a:xfrm>
          <a:prstGeom prst="rect">
            <a:avLst/>
          </a:prstGeom>
          <a:solidFill>
            <a:srgbClr val="0D7377"/>
          </a:solidFill>
          <a:ln w="12700">
            <a:solidFill>
              <a:srgbClr val="0D7377"/>
            </a:solidFill>
            <a:prstDash val="solid"/>
          </a:ln>
        </p:spPr>
        <p:txBody>
          <a:bodyPr/>
          <a:lstStyle/>
          <a:p>
            <a:endParaRPr lang="en-US" dirty="0"/>
          </a:p>
        </p:txBody>
      </p:sp>
      <p:pic>
        <p:nvPicPr>
          <p:cNvPr id="3" name="Image 0" descr="preencoded.png"/>
          <p:cNvPicPr>
            <a:picLocks noChangeAspect="1"/>
          </p:cNvPicPr>
          <p:nvPr/>
        </p:nvPicPr>
        <p:blipFill>
          <a:blip r:embed="rId3"/>
          <a:stretch>
            <a:fillRect/>
          </a:stretch>
        </p:blipFill>
        <p:spPr>
          <a:xfrm>
            <a:off x="365760" y="274320"/>
            <a:ext cx="914400" cy="914400"/>
          </a:xfrm>
          <a:prstGeom prst="rect">
            <a:avLst/>
          </a:prstGeom>
        </p:spPr>
      </p:pic>
      <p:sp>
        <p:nvSpPr>
          <p:cNvPr id="4" name="Text 1"/>
          <p:cNvSpPr/>
          <p:nvPr/>
        </p:nvSpPr>
        <p:spPr>
          <a:xfrm>
            <a:off x="320040" y="1325880"/>
            <a:ext cx="2380771" cy="1097280"/>
          </a:xfrm>
          <a:prstGeom prst="rect">
            <a:avLst/>
          </a:prstGeom>
          <a:noFill/>
          <a:ln/>
        </p:spPr>
        <p:txBody>
          <a:bodyPr wrap="square" lIns="0" tIns="0" rIns="0" bIns="0" rtlCol="0" anchor="ctr"/>
          <a:lstStyle/>
          <a:p>
            <a:pPr marL="0" indent="0" algn="l">
              <a:buNone/>
            </a:pPr>
            <a:r>
              <a:rPr lang="en-US" sz="3000" b="1" dirty="0">
                <a:solidFill>
                  <a:srgbClr val="FFFFFF"/>
                </a:solidFill>
              </a:rPr>
              <a:t>So, What Did</a:t>
            </a:r>
            <a:endParaRPr lang="en-US" sz="3000" dirty="0"/>
          </a:p>
          <a:p>
            <a:pPr marL="0" indent="0" algn="l">
              <a:buNone/>
            </a:pPr>
            <a:r>
              <a:rPr lang="en-US" sz="3000" b="1" dirty="0">
                <a:solidFill>
                  <a:srgbClr val="FFFFFF"/>
                </a:solidFill>
              </a:rPr>
              <a:t>We Learn?</a:t>
            </a:r>
            <a:endParaRPr lang="en-US" sz="3000" dirty="0"/>
          </a:p>
        </p:txBody>
      </p:sp>
      <p:sp>
        <p:nvSpPr>
          <p:cNvPr id="5" name="Text 2"/>
          <p:cNvSpPr/>
          <p:nvPr/>
        </p:nvSpPr>
        <p:spPr>
          <a:xfrm>
            <a:off x="320040" y="2606040"/>
            <a:ext cx="3291840" cy="1005840"/>
          </a:xfrm>
          <a:prstGeom prst="rect">
            <a:avLst/>
          </a:prstGeom>
          <a:noFill/>
          <a:ln/>
        </p:spPr>
        <p:txBody>
          <a:bodyPr wrap="square" lIns="0" tIns="0" rIns="0" bIns="0" rtlCol="0" anchor="ctr"/>
          <a:lstStyle/>
          <a:p>
            <a:pPr marL="0" indent="0" algn="l">
              <a:buNone/>
            </a:pPr>
            <a:r>
              <a:rPr lang="en-US" sz="1300" i="1" dirty="0">
                <a:solidFill>
                  <a:srgbClr val="D6F0F1"/>
                </a:solidFill>
              </a:rPr>
              <a:t>tl;dr — Nashville buses are</a:t>
            </a:r>
            <a:endParaRPr lang="en-US" sz="1300" dirty="0"/>
          </a:p>
          <a:p>
            <a:pPr marL="0" indent="0" algn="l">
              <a:buNone/>
            </a:pPr>
            <a:r>
              <a:rPr lang="en-US" sz="1300" i="1" dirty="0">
                <a:solidFill>
                  <a:srgbClr val="D6F0F1"/>
                </a:solidFill>
              </a:rPr>
              <a:t>pretty solid, but rush hour</a:t>
            </a:r>
            <a:endParaRPr lang="en-US" sz="1300" dirty="0"/>
          </a:p>
          <a:p>
            <a:pPr marL="0" indent="0" algn="l">
              <a:buNone/>
            </a:pPr>
            <a:r>
              <a:rPr lang="en-US" sz="1300" i="1" dirty="0">
                <a:solidFill>
                  <a:srgbClr val="D6F0F1"/>
                </a:solidFill>
              </a:rPr>
              <a:t>and downtown are tough.</a:t>
            </a:r>
            <a:endParaRPr lang="en-US" sz="1300" dirty="0"/>
          </a:p>
        </p:txBody>
      </p:sp>
      <p:sp>
        <p:nvSpPr>
          <p:cNvPr id="6" name="Text 3"/>
          <p:cNvSpPr/>
          <p:nvPr/>
        </p:nvSpPr>
        <p:spPr>
          <a:xfrm>
            <a:off x="320040" y="3749040"/>
            <a:ext cx="3291840" cy="457200"/>
          </a:xfrm>
          <a:prstGeom prst="rect">
            <a:avLst/>
          </a:prstGeom>
          <a:noFill/>
          <a:ln/>
        </p:spPr>
        <p:txBody>
          <a:bodyPr wrap="square" lIns="0" tIns="0" rIns="0" bIns="0" rtlCol="0" anchor="ctr"/>
          <a:lstStyle/>
          <a:p>
            <a:pPr marL="0" indent="0" algn="l">
              <a:buNone/>
            </a:pPr>
            <a:r>
              <a:rPr lang="en-US" sz="1200" i="1" dirty="0">
                <a:solidFill>
                  <a:srgbClr val="E07840"/>
                </a:solidFill>
              </a:rPr>
              <a:t>🎸  Nashville's still got rhythm.</a:t>
            </a:r>
            <a:endParaRPr lang="en-US" sz="1200" dirty="0"/>
          </a:p>
        </p:txBody>
      </p:sp>
      <p:sp>
        <p:nvSpPr>
          <p:cNvPr id="7" name="Shape 4"/>
          <p:cNvSpPr/>
          <p:nvPr/>
        </p:nvSpPr>
        <p:spPr>
          <a:xfrm>
            <a:off x="4114800" y="411480"/>
            <a:ext cx="4754880" cy="621792"/>
          </a:xfrm>
          <a:prstGeom prst="rect">
            <a:avLst/>
          </a:prstGeom>
          <a:solidFill>
            <a:srgbClr val="1A3A3B"/>
          </a:solidFill>
          <a:ln w="12700">
            <a:solidFill>
              <a:srgbClr val="14A7AC"/>
            </a:solidFill>
            <a:prstDash val="solid"/>
          </a:ln>
          <a:effectLst>
            <a:outerShdw blurRad="101600" dist="38100" dir="8100000" algn="bl" rotWithShape="0">
              <a:srgbClr val="000000">
                <a:alpha val="12000"/>
              </a:srgbClr>
            </a:outerShdw>
          </a:effectLst>
        </p:spPr>
        <p:txBody>
          <a:bodyPr/>
          <a:lstStyle/>
          <a:p>
            <a:endParaRPr lang="en-US" dirty="0"/>
          </a:p>
        </p:txBody>
      </p:sp>
      <p:sp>
        <p:nvSpPr>
          <p:cNvPr id="8" name="Text 5"/>
          <p:cNvSpPr/>
          <p:nvPr/>
        </p:nvSpPr>
        <p:spPr>
          <a:xfrm>
            <a:off x="4206240" y="457200"/>
            <a:ext cx="4572000" cy="530352"/>
          </a:xfrm>
          <a:prstGeom prst="rect">
            <a:avLst/>
          </a:prstGeom>
          <a:noFill/>
          <a:ln/>
        </p:spPr>
        <p:txBody>
          <a:bodyPr wrap="square" lIns="1270" tIns="1270" rIns="1270" bIns="1270" rtlCol="0" anchor="ctr"/>
          <a:lstStyle/>
          <a:p>
            <a:pPr marL="0" indent="0" algn="l">
              <a:buNone/>
            </a:pPr>
            <a:r>
              <a:rPr lang="en-US" sz="1200" dirty="0">
                <a:solidFill>
                  <a:srgbClr val="FFFFFF"/>
                </a:solidFill>
              </a:rPr>
              <a:t>✅  </a:t>
            </a:r>
            <a:r>
              <a:rPr lang="en-US" sz="1200" b="1" dirty="0">
                <a:solidFill>
                  <a:srgbClr val="FFFFFF"/>
                </a:solidFill>
              </a:rPr>
              <a:t>79.7% on-time overall</a:t>
            </a:r>
            <a:r>
              <a:rPr lang="en-US" sz="1200" dirty="0">
                <a:solidFill>
                  <a:srgbClr val="FFFFFF"/>
                </a:solidFill>
              </a:rPr>
              <a:t> — better than it sounds!</a:t>
            </a:r>
            <a:endParaRPr lang="en-US" sz="1200" dirty="0"/>
          </a:p>
        </p:txBody>
      </p:sp>
      <p:sp>
        <p:nvSpPr>
          <p:cNvPr id="9" name="Shape 6"/>
          <p:cNvSpPr/>
          <p:nvPr/>
        </p:nvSpPr>
        <p:spPr>
          <a:xfrm>
            <a:off x="4114800" y="1161288"/>
            <a:ext cx="4754880" cy="621792"/>
          </a:xfrm>
          <a:prstGeom prst="rect">
            <a:avLst/>
          </a:prstGeom>
          <a:solidFill>
            <a:srgbClr val="1A3A3B"/>
          </a:solidFill>
          <a:ln w="12700">
            <a:solidFill>
              <a:srgbClr val="14A7AC"/>
            </a:solidFill>
            <a:prstDash val="solid"/>
          </a:ln>
          <a:effectLst>
            <a:outerShdw blurRad="101600" dist="38100" dir="8100000" algn="bl" rotWithShape="0">
              <a:srgbClr val="000000">
                <a:alpha val="12000"/>
              </a:srgbClr>
            </a:outerShdw>
          </a:effectLst>
        </p:spPr>
        <p:txBody>
          <a:bodyPr/>
          <a:lstStyle/>
          <a:p>
            <a:endParaRPr lang="en-US" dirty="0"/>
          </a:p>
        </p:txBody>
      </p:sp>
      <p:sp>
        <p:nvSpPr>
          <p:cNvPr id="10" name="Text 7"/>
          <p:cNvSpPr/>
          <p:nvPr/>
        </p:nvSpPr>
        <p:spPr>
          <a:xfrm>
            <a:off x="4206240" y="1207008"/>
            <a:ext cx="4572000" cy="530352"/>
          </a:xfrm>
          <a:prstGeom prst="rect">
            <a:avLst/>
          </a:prstGeom>
          <a:noFill/>
          <a:ln/>
        </p:spPr>
        <p:txBody>
          <a:bodyPr wrap="square" lIns="1270" tIns="1270" rIns="1270" bIns="1270" rtlCol="0" anchor="ctr"/>
          <a:lstStyle/>
          <a:p>
            <a:pPr marL="0" indent="0" algn="l">
              <a:buNone/>
            </a:pPr>
            <a:r>
              <a:rPr lang="en-US" sz="1200" dirty="0">
                <a:solidFill>
                  <a:srgbClr val="FFFFFF"/>
                </a:solidFill>
              </a:rPr>
              <a:t>🌆  </a:t>
            </a:r>
            <a:r>
              <a:rPr lang="en-US" sz="1200" b="1" dirty="0">
                <a:solidFill>
                  <a:srgbClr val="FFFFFF"/>
                </a:solidFill>
              </a:rPr>
              <a:t>Downtown &amp; rush hour</a:t>
            </a:r>
            <a:r>
              <a:rPr lang="en-US" sz="1200" dirty="0">
                <a:solidFill>
                  <a:srgbClr val="FFFFFF"/>
                </a:solidFill>
              </a:rPr>
              <a:t> are the biggest trouble spots</a:t>
            </a:r>
            <a:endParaRPr lang="en-US" sz="1200" dirty="0"/>
          </a:p>
        </p:txBody>
      </p:sp>
      <p:sp>
        <p:nvSpPr>
          <p:cNvPr id="11" name="Shape 8"/>
          <p:cNvSpPr/>
          <p:nvPr/>
        </p:nvSpPr>
        <p:spPr>
          <a:xfrm>
            <a:off x="4114800" y="1911096"/>
            <a:ext cx="4754880" cy="621792"/>
          </a:xfrm>
          <a:prstGeom prst="rect">
            <a:avLst/>
          </a:prstGeom>
          <a:solidFill>
            <a:srgbClr val="1A3A3B"/>
          </a:solidFill>
          <a:ln w="12700">
            <a:solidFill>
              <a:srgbClr val="14A7AC"/>
            </a:solidFill>
            <a:prstDash val="solid"/>
          </a:ln>
          <a:effectLst>
            <a:outerShdw blurRad="101600" dist="38100" dir="8100000" algn="bl" rotWithShape="0">
              <a:srgbClr val="000000">
                <a:alpha val="12000"/>
              </a:srgbClr>
            </a:outerShdw>
          </a:effectLst>
        </p:spPr>
        <p:txBody>
          <a:bodyPr/>
          <a:lstStyle/>
          <a:p>
            <a:endParaRPr lang="en-US" dirty="0"/>
          </a:p>
        </p:txBody>
      </p:sp>
      <p:sp>
        <p:nvSpPr>
          <p:cNvPr id="12" name="Text 9"/>
          <p:cNvSpPr/>
          <p:nvPr/>
        </p:nvSpPr>
        <p:spPr>
          <a:xfrm>
            <a:off x="4206240" y="1956816"/>
            <a:ext cx="4572000" cy="530352"/>
          </a:xfrm>
          <a:prstGeom prst="rect">
            <a:avLst/>
          </a:prstGeom>
          <a:noFill/>
          <a:ln/>
        </p:spPr>
        <p:txBody>
          <a:bodyPr wrap="square" lIns="1270" tIns="1270" rIns="1270" bIns="1270" rtlCol="0" anchor="ctr"/>
          <a:lstStyle/>
          <a:p>
            <a:pPr marL="0" indent="0" algn="l">
              <a:buNone/>
            </a:pPr>
            <a:r>
              <a:rPr lang="en-US" sz="1200" dirty="0">
                <a:solidFill>
                  <a:srgbClr val="FFFFFF"/>
                </a:solidFill>
              </a:rPr>
              <a:t>🚌  </a:t>
            </a:r>
            <a:r>
              <a:rPr lang="en-US" sz="1200" b="1" dirty="0">
                <a:solidFill>
                  <a:srgbClr val="FFFFFF"/>
                </a:solidFill>
              </a:rPr>
              <a:t>FROM downtown is rougher</a:t>
            </a:r>
            <a:r>
              <a:rPr lang="en-US" sz="1200" dirty="0">
                <a:solidFill>
                  <a:srgbClr val="FFFFFF"/>
                </a:solidFill>
              </a:rPr>
              <a:t> than heading in (22% vs 11% late)</a:t>
            </a:r>
            <a:endParaRPr lang="en-US" sz="1200" dirty="0"/>
          </a:p>
        </p:txBody>
      </p:sp>
      <p:sp>
        <p:nvSpPr>
          <p:cNvPr id="13" name="Shape 10"/>
          <p:cNvSpPr/>
          <p:nvPr/>
        </p:nvSpPr>
        <p:spPr>
          <a:xfrm>
            <a:off x="4114800" y="2660904"/>
            <a:ext cx="4754880" cy="621792"/>
          </a:xfrm>
          <a:prstGeom prst="rect">
            <a:avLst/>
          </a:prstGeom>
          <a:solidFill>
            <a:srgbClr val="1A3A3B"/>
          </a:solidFill>
          <a:ln w="12700">
            <a:solidFill>
              <a:srgbClr val="14A7AC"/>
            </a:solidFill>
            <a:prstDash val="solid"/>
          </a:ln>
          <a:effectLst>
            <a:outerShdw blurRad="101600" dist="38100" dir="8100000" algn="bl" rotWithShape="0">
              <a:srgbClr val="000000">
                <a:alpha val="12000"/>
              </a:srgbClr>
            </a:outerShdw>
          </a:effectLst>
        </p:spPr>
        <p:txBody>
          <a:bodyPr/>
          <a:lstStyle/>
          <a:p>
            <a:endParaRPr lang="en-US" dirty="0"/>
          </a:p>
        </p:txBody>
      </p:sp>
      <p:sp>
        <p:nvSpPr>
          <p:cNvPr id="14" name="Text 11"/>
          <p:cNvSpPr/>
          <p:nvPr/>
        </p:nvSpPr>
        <p:spPr>
          <a:xfrm>
            <a:off x="4206240" y="2706624"/>
            <a:ext cx="4572000" cy="530352"/>
          </a:xfrm>
          <a:prstGeom prst="rect">
            <a:avLst/>
          </a:prstGeom>
          <a:noFill/>
          <a:ln/>
        </p:spPr>
        <p:txBody>
          <a:bodyPr wrap="square" lIns="1270" tIns="1270" rIns="1270" bIns="1270" rtlCol="0" anchor="ctr"/>
          <a:lstStyle/>
          <a:p>
            <a:pPr marL="0" indent="0" algn="l">
              <a:buNone/>
            </a:pPr>
            <a:r>
              <a:rPr lang="en-US" sz="1200" dirty="0">
                <a:solidFill>
                  <a:srgbClr val="FFFFFF"/>
                </a:solidFill>
              </a:rPr>
              <a:t>😴  </a:t>
            </a:r>
            <a:r>
              <a:rPr lang="en-US" sz="1200" b="1" dirty="0">
                <a:solidFill>
                  <a:srgbClr val="FFFFFF"/>
                </a:solidFill>
              </a:rPr>
              <a:t>Sunday is the best day</a:t>
            </a:r>
            <a:r>
              <a:rPr lang="en-US" sz="1200" dirty="0">
                <a:solidFill>
                  <a:srgbClr val="FFFFFF"/>
                </a:solidFill>
              </a:rPr>
              <a:t> to ride — only 11.4% late</a:t>
            </a:r>
            <a:endParaRPr lang="en-US" sz="1200" dirty="0"/>
          </a:p>
        </p:txBody>
      </p:sp>
      <p:sp>
        <p:nvSpPr>
          <p:cNvPr id="15" name="Shape 12"/>
          <p:cNvSpPr/>
          <p:nvPr/>
        </p:nvSpPr>
        <p:spPr>
          <a:xfrm>
            <a:off x="4114800" y="3410712"/>
            <a:ext cx="4754880" cy="621792"/>
          </a:xfrm>
          <a:prstGeom prst="rect">
            <a:avLst/>
          </a:prstGeom>
          <a:solidFill>
            <a:srgbClr val="1A3A3B"/>
          </a:solidFill>
          <a:ln w="12700">
            <a:solidFill>
              <a:srgbClr val="14A7AC"/>
            </a:solidFill>
            <a:prstDash val="solid"/>
          </a:ln>
          <a:effectLst>
            <a:outerShdw blurRad="101600" dist="38100" dir="8100000" algn="bl" rotWithShape="0">
              <a:srgbClr val="000000">
                <a:alpha val="12000"/>
              </a:srgbClr>
            </a:outerShdw>
          </a:effectLst>
        </p:spPr>
        <p:txBody>
          <a:bodyPr/>
          <a:lstStyle/>
          <a:p>
            <a:endParaRPr lang="en-US" dirty="0"/>
          </a:p>
        </p:txBody>
      </p:sp>
      <p:sp>
        <p:nvSpPr>
          <p:cNvPr id="16" name="Text 13"/>
          <p:cNvSpPr/>
          <p:nvPr/>
        </p:nvSpPr>
        <p:spPr>
          <a:xfrm>
            <a:off x="4206240" y="3456432"/>
            <a:ext cx="4572000" cy="530352"/>
          </a:xfrm>
          <a:prstGeom prst="rect">
            <a:avLst/>
          </a:prstGeom>
          <a:noFill/>
          <a:ln/>
        </p:spPr>
        <p:txBody>
          <a:bodyPr wrap="square" lIns="1270" tIns="1270" rIns="1270" bIns="1270" rtlCol="0" anchor="ctr"/>
          <a:lstStyle/>
          <a:p>
            <a:pPr marL="0" indent="0" algn="l">
              <a:buNone/>
            </a:pPr>
            <a:r>
              <a:rPr lang="en-US" sz="1200" dirty="0">
                <a:solidFill>
                  <a:srgbClr val="FFFFFF"/>
                </a:solidFill>
              </a:rPr>
              <a:t>🧑‍✈️  </a:t>
            </a:r>
            <a:r>
              <a:rPr lang="en-US" sz="1200" b="1" dirty="0">
                <a:solidFill>
                  <a:srgbClr val="FFFFFF"/>
                </a:solidFill>
              </a:rPr>
              <a:t>Drivers matter a lot</a:t>
            </a:r>
            <a:r>
              <a:rPr lang="en-US" sz="1200" dirty="0">
                <a:solidFill>
                  <a:srgbClr val="FFFFFF"/>
                </a:solidFill>
              </a:rPr>
              <a:t> — 0.6% to 54% late range!</a:t>
            </a:r>
            <a:endParaRPr lang="en-US" sz="1200" dirty="0"/>
          </a:p>
        </p:txBody>
      </p:sp>
      <p:sp>
        <p:nvSpPr>
          <p:cNvPr id="17" name="Shape 14"/>
          <p:cNvSpPr/>
          <p:nvPr/>
        </p:nvSpPr>
        <p:spPr>
          <a:xfrm>
            <a:off x="4114800" y="4160520"/>
            <a:ext cx="4754880" cy="621792"/>
          </a:xfrm>
          <a:prstGeom prst="rect">
            <a:avLst/>
          </a:prstGeom>
          <a:solidFill>
            <a:srgbClr val="1A3A3B"/>
          </a:solidFill>
          <a:ln w="12700">
            <a:solidFill>
              <a:srgbClr val="14A7AC"/>
            </a:solidFill>
            <a:prstDash val="solid"/>
          </a:ln>
          <a:effectLst>
            <a:outerShdw blurRad="101600" dist="38100" dir="8100000" algn="bl" rotWithShape="0">
              <a:srgbClr val="000000">
                <a:alpha val="12000"/>
              </a:srgbClr>
            </a:outerShdw>
          </a:effectLst>
        </p:spPr>
        <p:txBody>
          <a:bodyPr/>
          <a:lstStyle/>
          <a:p>
            <a:endParaRPr lang="en-US" dirty="0"/>
          </a:p>
        </p:txBody>
      </p:sp>
      <p:sp>
        <p:nvSpPr>
          <p:cNvPr id="18" name="Text 15"/>
          <p:cNvSpPr/>
          <p:nvPr/>
        </p:nvSpPr>
        <p:spPr>
          <a:xfrm>
            <a:off x="4206240" y="4206240"/>
            <a:ext cx="4572000" cy="530352"/>
          </a:xfrm>
          <a:prstGeom prst="rect">
            <a:avLst/>
          </a:prstGeom>
          <a:noFill/>
          <a:ln/>
        </p:spPr>
        <p:txBody>
          <a:bodyPr wrap="square" lIns="1270" tIns="1270" rIns="1270" bIns="1270" rtlCol="0" anchor="ctr"/>
          <a:lstStyle/>
          <a:p>
            <a:pPr marL="0" indent="0" algn="l">
              <a:buNone/>
            </a:pPr>
            <a:r>
              <a:rPr lang="en-US" sz="1200" dirty="0">
                <a:solidFill>
                  <a:srgbClr val="FFFFFF"/>
                </a:solidFill>
              </a:rPr>
              <a:t>🎛️  </a:t>
            </a:r>
            <a:r>
              <a:rPr lang="en-US" sz="1200" b="1" dirty="0">
                <a:solidFill>
                  <a:srgbClr val="FFFFFF"/>
                </a:solidFill>
              </a:rPr>
              <a:t>Layover time = headway stability</a:t>
            </a:r>
            <a:r>
              <a:rPr lang="en-US" sz="1200" dirty="0">
                <a:solidFill>
                  <a:srgbClr val="FFFFFF"/>
                </a:solidFill>
              </a:rPr>
              <a:t> — use the buffer!</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86</TotalTime>
  <Words>1266</Words>
  <Application>Microsoft Office PowerPoint</Application>
  <PresentationFormat>On-screen Show (16:9)</PresentationFormat>
  <Paragraphs>105</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WeGo Nashville Bus Performance</dc:title>
  <dc:subject>PptxGenJS Presentation</dc:subject>
  <dc:creator>PptxGenJS</dc:creator>
  <cp:lastModifiedBy>Michelle Ruppert</cp:lastModifiedBy>
  <cp:revision>8</cp:revision>
  <dcterms:created xsi:type="dcterms:W3CDTF">2026-04-27T15:34:43Z</dcterms:created>
  <dcterms:modified xsi:type="dcterms:W3CDTF">2026-05-01T17:19:42Z</dcterms:modified>
</cp:coreProperties>
</file>